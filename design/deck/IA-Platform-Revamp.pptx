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Framing: this is not a redesign for its own sake. The page exists; almost nobody uses it. We are proposing to change what it is for.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 fair to the current page: it was built for a purpose and it serves culture well. The problem is that it was never built to carry the work.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left column is what an auditor opens a browser to find. The right column is what the home page currently offers first.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Figures on the screenshot are illustrative. Real values come from the Engagements and Issues lists once populated.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5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ero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50">
              <a:alpha val="68000"/>
            </a:srgbClr>
          </a:solidFill>
          <a:ln/>
        </p:spPr>
      </p:sp>
      <p:sp>
        <p:nvSpPr>
          <p:cNvPr id="4" name="Text 1"/>
          <p:cNvSpPr txBox="1"/>
          <p:nvPr/>
        </p:nvSpPr>
        <p:spPr>
          <a:xfrm>
            <a:off x="914400" y="214884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60" kern="0" dirty="0">
                <a:solidFill>
                  <a:srgbClr val="4BF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INTERNAL AUDIT EXCELLENCE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914400" y="2606040"/>
            <a:ext cx="96926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Revamping the</a:t>
            </a:r>
            <a:endParaRPr lang="en-US" sz="4400" dirty="0"/>
          </a:p>
          <a:p>
            <a:pPr indent="0" marL="0">
              <a:lnSpc>
                <a:spcPts val="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Internal Audit platform</a:t>
            </a:r>
            <a:endParaRPr lang="en-US" sz="4400" dirty="0"/>
          </a:p>
        </p:txBody>
      </p:sp>
      <p:sp>
        <p:nvSpPr>
          <p:cNvPr id="6" name="Text 3"/>
          <p:cNvSpPr txBox="1"/>
          <p:nvPr/>
        </p:nvSpPr>
        <p:spPr>
          <a:xfrm>
            <a:off x="914400" y="4434840"/>
            <a:ext cx="8778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B9C6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a departmental noticeboard to the place the audit function actually runs from.</a:t>
            </a:r>
            <a:endParaRPr lang="en-US" sz="1700" dirty="0"/>
          </a:p>
        </p:txBody>
      </p:sp>
      <p:sp>
        <p:nvSpPr>
          <p:cNvPr id="7" name="Text 4"/>
          <p:cNvSpPr txBox="1"/>
          <p:nvPr/>
        </p:nvSpPr>
        <p:spPr>
          <a:xfrm>
            <a:off x="914400" y="58064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F9E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Proposal to management  ·  September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274320"/>
            <a:ext cx="106372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20" kern="0" dirty="0">
                <a:solidFill>
                  <a:srgbClr val="1061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WE ARE TODAY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475488"/>
            <a:ext cx="1063721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800"/>
              </a:lnSpc>
              <a:buNone/>
            </a:pPr>
            <a:r>
              <a:rPr lang="en-US" sz="3300" b="1" dirty="0">
                <a:solidFill>
                  <a:srgbClr val="101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page works. It just is not what anyone needs.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5440680" cy="1783080"/>
          </a:xfrm>
          <a:prstGeom prst="roundRect">
            <a:avLst>
              <a:gd name="adj" fmla="val 3077"/>
            </a:avLst>
          </a:prstGeom>
          <a:solidFill>
            <a:srgbClr val="F4F7FF"/>
          </a:solidFill>
          <a:ln w="12700">
            <a:solidFill>
              <a:srgbClr val="DDE8FF"/>
            </a:solidFill>
            <a:prstDash val="solid"/>
          </a:ln>
          <a:effectLst>
            <a:outerShdw sx="100000" sy="100000" kx="0" ky="0" algn="bl" rotWithShape="0" blurRad="177800" dist="38100" dir="5400000">
              <a:srgbClr val="10154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05840" y="2221992"/>
            <a:ext cx="384048" cy="384048"/>
          </a:xfrm>
          <a:prstGeom prst="roundRect">
            <a:avLst>
              <a:gd name="adj" fmla="val 23810"/>
            </a:avLst>
          </a:prstGeom>
          <a:solidFill>
            <a:srgbClr val="F4F7FF"/>
          </a:solidFill>
          <a:ln w="15875">
            <a:solidFill>
              <a:srgbClr val="4BF5F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05840" y="22219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061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1554480" y="2185416"/>
            <a:ext cx="4297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01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Opens with culture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1554480" y="2624328"/>
            <a:ext cx="4251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4D5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Birthdays, awards and event photos occupy the first screen. The audit manual is below all of it.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446520" y="1874520"/>
            <a:ext cx="5440680" cy="1783080"/>
          </a:xfrm>
          <a:prstGeom prst="roundRect">
            <a:avLst>
              <a:gd name="adj" fmla="val 3077"/>
            </a:avLst>
          </a:prstGeom>
          <a:solidFill>
            <a:srgbClr val="F4F7FF"/>
          </a:solidFill>
          <a:ln w="12700">
            <a:solidFill>
              <a:srgbClr val="DDE8FF"/>
            </a:solidFill>
            <a:prstDash val="solid"/>
          </a:ln>
          <a:effectLst>
            <a:outerShdw sx="100000" sy="100000" kx="0" ky="0" algn="bl" rotWithShape="0" blurRad="177800" dist="38100" dir="5400000">
              <a:srgbClr val="10154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812280" y="2221992"/>
            <a:ext cx="384048" cy="384048"/>
          </a:xfrm>
          <a:prstGeom prst="roundRect">
            <a:avLst>
              <a:gd name="adj" fmla="val 23810"/>
            </a:avLst>
          </a:prstGeom>
          <a:solidFill>
            <a:srgbClr val="F4F7FF"/>
          </a:solidFill>
          <a:ln w="15875">
            <a:solidFill>
              <a:srgbClr val="4BF5F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812280" y="22219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061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7360920" y="2185416"/>
            <a:ext cx="4297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01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Tools are missing</a:t>
            </a:r>
            <a:endParaRPr lang="en-US" sz="1700" dirty="0"/>
          </a:p>
        </p:txBody>
      </p:sp>
      <p:sp>
        <p:nvSpPr>
          <p:cNvPr id="13" name="Text 11"/>
          <p:cNvSpPr txBox="1"/>
          <p:nvPr/>
        </p:nvSpPr>
        <p:spPr>
          <a:xfrm>
            <a:off x="7360920" y="2624328"/>
            <a:ext cx="4251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4D5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TeamMate+ has no link on the home page. Auditors reach it from a bookmark, or they ask someone.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640080" y="3886200"/>
            <a:ext cx="5440680" cy="1783080"/>
          </a:xfrm>
          <a:prstGeom prst="roundRect">
            <a:avLst>
              <a:gd name="adj" fmla="val 3077"/>
            </a:avLst>
          </a:prstGeom>
          <a:solidFill>
            <a:srgbClr val="F4F7FF"/>
          </a:solidFill>
          <a:ln w="12700">
            <a:solidFill>
              <a:srgbClr val="DDE8FF"/>
            </a:solidFill>
            <a:prstDash val="solid"/>
          </a:ln>
          <a:effectLst>
            <a:outerShdw sx="100000" sy="100000" kx="0" ky="0" algn="bl" rotWithShape="0" blurRad="177800" dist="38100" dir="5400000">
              <a:srgbClr val="10154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1005840" y="4233672"/>
            <a:ext cx="384048" cy="384048"/>
          </a:xfrm>
          <a:prstGeom prst="roundRect">
            <a:avLst>
              <a:gd name="adj" fmla="val 23810"/>
            </a:avLst>
          </a:prstGeom>
          <a:solidFill>
            <a:srgbClr val="F4F7FF"/>
          </a:solidFill>
          <a:ln w="15875">
            <a:solidFill>
              <a:srgbClr val="4BF5F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1005840" y="42336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061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1554480" y="4197096"/>
            <a:ext cx="4297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01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Nothing is live</a:t>
            </a:r>
            <a:endParaRPr lang="en-US" sz="1700" dirty="0"/>
          </a:p>
        </p:txBody>
      </p:sp>
      <p:sp>
        <p:nvSpPr>
          <p:cNvPr id="18" name="Text 16"/>
          <p:cNvSpPr txBox="1"/>
          <p:nvPr/>
        </p:nvSpPr>
        <p:spPr>
          <a:xfrm>
            <a:off x="1554480" y="4636008"/>
            <a:ext cx="4251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4D5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block is static text. There is no reason to return once you have read it.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6446520" y="3886200"/>
            <a:ext cx="5440680" cy="1783080"/>
          </a:xfrm>
          <a:prstGeom prst="roundRect">
            <a:avLst>
              <a:gd name="adj" fmla="val 3077"/>
            </a:avLst>
          </a:prstGeom>
          <a:solidFill>
            <a:srgbClr val="F4F7FF"/>
          </a:solidFill>
          <a:ln w="12700">
            <a:solidFill>
              <a:srgbClr val="DDE8FF"/>
            </a:solidFill>
            <a:prstDash val="solid"/>
          </a:ln>
          <a:effectLst>
            <a:outerShdw sx="100000" sy="100000" kx="0" ky="0" algn="bl" rotWithShape="0" blurRad="177800" dist="38100" dir="5400000">
              <a:srgbClr val="10154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812280" y="4233672"/>
            <a:ext cx="384048" cy="384048"/>
          </a:xfrm>
          <a:prstGeom prst="roundRect">
            <a:avLst>
              <a:gd name="adj" fmla="val 23810"/>
            </a:avLst>
          </a:prstGeom>
          <a:solidFill>
            <a:srgbClr val="F4F7FF"/>
          </a:solidFill>
          <a:ln w="15875">
            <a:solidFill>
              <a:srgbClr val="4BF5FF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812280" y="42336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061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7360920" y="4197096"/>
            <a:ext cx="4297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01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Closed to the business</a:t>
            </a:r>
            <a:endParaRPr lang="en-US" sz="1700" dirty="0"/>
          </a:p>
        </p:txBody>
      </p:sp>
      <p:sp>
        <p:nvSpPr>
          <p:cNvPr id="23" name="Text 21"/>
          <p:cNvSpPr txBox="1"/>
          <p:nvPr/>
        </p:nvSpPr>
        <p:spPr>
          <a:xfrm>
            <a:off x="7360920" y="4636008"/>
            <a:ext cx="4251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4D5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private group site. The departments we audit cannot open it at all.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274320"/>
            <a:ext cx="106372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20" kern="0" dirty="0">
                <a:solidFill>
                  <a:srgbClr val="1061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DIAGNOSIS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475488"/>
            <a:ext cx="1063721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800"/>
              </a:lnSpc>
              <a:buNone/>
            </a:pPr>
            <a:r>
              <a:rPr lang="en-US" sz="3300" b="1" dirty="0">
                <a:solidFill>
                  <a:srgbClr val="101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people come for, and what the page shows.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640080" y="1920240"/>
            <a:ext cx="5349240" cy="3977640"/>
          </a:xfrm>
          <a:prstGeom prst="roundRect">
            <a:avLst>
              <a:gd name="adj" fmla="val 1379"/>
            </a:avLst>
          </a:prstGeom>
          <a:solidFill>
            <a:srgbClr val="F4F7FF"/>
          </a:solidFill>
          <a:ln w="12700">
            <a:solidFill>
              <a:srgbClr val="DDE8F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263640" y="1920240"/>
            <a:ext cx="5285232" cy="3977640"/>
          </a:xfrm>
          <a:prstGeom prst="roundRect">
            <a:avLst>
              <a:gd name="adj" fmla="val 1379"/>
            </a:avLst>
          </a:prstGeom>
          <a:solidFill>
            <a:srgbClr val="000050"/>
          </a:solidFill>
          <a:ln w="12700">
            <a:solidFill>
              <a:srgbClr val="00005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05840" y="221284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061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THEY COME FOR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6629400" y="221284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4BF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THE PAGE LEADS WITH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1005840" y="2697480"/>
            <a:ext cx="4663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1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TeamMate+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1005840" y="3200400"/>
            <a:ext cx="4663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1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audit manual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1005840" y="3703320"/>
            <a:ext cx="4663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1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workpaper template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1005840" y="4206240"/>
            <a:ext cx="4663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1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 support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1005840" y="4709160"/>
            <a:ext cx="4663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1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Whether an issue is closed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1005840" y="5212080"/>
            <a:ext cx="4663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1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an audit involves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6629400" y="2697480"/>
            <a:ext cx="4663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B9C6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Birthdays this month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6629400" y="3200400"/>
            <a:ext cx="4663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B9C6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Awareness month photos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6629400" y="3703320"/>
            <a:ext cx="4663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B9C6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mission statement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6629400" y="4206240"/>
            <a:ext cx="4663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B9C6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 calendar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6629400" y="4709160"/>
            <a:ext cx="4663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B9C6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Recycle bin link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6629400" y="5212080"/>
            <a:ext cx="4663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B9C6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Holiday calendar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640080" y="6144768"/>
            <a:ext cx="10881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D5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Neither list is wrong. They are simply in the wrong order.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005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274320"/>
            <a:ext cx="106372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20" kern="0" dirty="0">
                <a:solidFill>
                  <a:srgbClr val="4BF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APPROACH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475488"/>
            <a:ext cx="1063721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800"/>
              </a:lnSpc>
              <a:buNone/>
            </a:pPr>
            <a:r>
              <a:rPr lang="en-US" sz="3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shifts, not a repaint.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640080" y="2057400"/>
            <a:ext cx="3474720" cy="3383280"/>
          </a:xfrm>
          <a:prstGeom prst="roundRect">
            <a:avLst>
              <a:gd name="adj" fmla="val 1622"/>
            </a:avLst>
          </a:prstGeom>
          <a:solidFill>
            <a:srgbClr val="000033"/>
          </a:solidFill>
          <a:ln w="12700">
            <a:solidFill>
              <a:srgbClr val="1C247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87552" y="2395728"/>
            <a:ext cx="384048" cy="384048"/>
          </a:xfrm>
          <a:prstGeom prst="roundRect">
            <a:avLst>
              <a:gd name="adj" fmla="val 23810"/>
            </a:avLst>
          </a:prstGeom>
          <a:solidFill>
            <a:srgbClr val="000050"/>
          </a:solidFill>
          <a:ln w="15875">
            <a:solidFill>
              <a:srgbClr val="4BF5F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87552" y="23957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BF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987552" y="3017520"/>
            <a:ext cx="2834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 first, culture second</a:t>
            </a:r>
            <a:endParaRPr lang="en-US" sz="1900" dirty="0"/>
          </a:p>
        </p:txBody>
      </p:sp>
      <p:sp>
        <p:nvSpPr>
          <p:cNvPr id="8" name="Text 6"/>
          <p:cNvSpPr txBox="1"/>
          <p:nvPr/>
        </p:nvSpPr>
        <p:spPr>
          <a:xfrm>
            <a:off x="987552" y="3931920"/>
            <a:ext cx="281635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B9C6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tools and the methodology take the top of the page. Culture keeps its place, below them, done properly.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4352544" y="2057400"/>
            <a:ext cx="3474720" cy="3383280"/>
          </a:xfrm>
          <a:prstGeom prst="roundRect">
            <a:avLst>
              <a:gd name="adj" fmla="val 1622"/>
            </a:avLst>
          </a:prstGeom>
          <a:solidFill>
            <a:srgbClr val="000033"/>
          </a:solidFill>
          <a:ln w="12700">
            <a:solidFill>
              <a:srgbClr val="1C247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700016" y="2395728"/>
            <a:ext cx="384048" cy="384048"/>
          </a:xfrm>
          <a:prstGeom prst="roundRect">
            <a:avLst>
              <a:gd name="adj" fmla="val 23810"/>
            </a:avLst>
          </a:prstGeom>
          <a:solidFill>
            <a:srgbClr val="000050"/>
          </a:solidFill>
          <a:ln w="15875">
            <a:solidFill>
              <a:srgbClr val="4BF5F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700016" y="23957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BF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4700016" y="3017520"/>
            <a:ext cx="2834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Static becomes live</a:t>
            </a:r>
            <a:endParaRPr lang="en-US" sz="1900" dirty="0"/>
          </a:p>
        </p:txBody>
      </p:sp>
      <p:sp>
        <p:nvSpPr>
          <p:cNvPr id="13" name="Text 11"/>
          <p:cNvSpPr txBox="1"/>
          <p:nvPr/>
        </p:nvSpPr>
        <p:spPr>
          <a:xfrm>
            <a:off x="4700016" y="3931920"/>
            <a:ext cx="281635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B9C6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Power BI dashboard and self-updating document lists. The page shows this week’s position, so it earns a weekly visit.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8065008" y="2057400"/>
            <a:ext cx="3474720" cy="3383280"/>
          </a:xfrm>
          <a:prstGeom prst="roundRect">
            <a:avLst>
              <a:gd name="adj" fmla="val 1622"/>
            </a:avLst>
          </a:prstGeom>
          <a:solidFill>
            <a:srgbClr val="000033"/>
          </a:solidFill>
          <a:ln w="12700">
            <a:solidFill>
              <a:srgbClr val="1C247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412480" y="2395728"/>
            <a:ext cx="384048" cy="384048"/>
          </a:xfrm>
          <a:prstGeom prst="roundRect">
            <a:avLst>
              <a:gd name="adj" fmla="val 23810"/>
            </a:avLst>
          </a:prstGeom>
          <a:solidFill>
            <a:srgbClr val="000050"/>
          </a:solidFill>
          <a:ln w="15875">
            <a:solidFill>
              <a:srgbClr val="4BF5F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412480" y="23957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BF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8412480" y="3017520"/>
            <a:ext cx="2834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it to the business</a:t>
            </a:r>
            <a:endParaRPr lang="en-US" sz="1900" dirty="0"/>
          </a:p>
        </p:txBody>
      </p:sp>
      <p:sp>
        <p:nvSpPr>
          <p:cNvPr id="18" name="Text 16"/>
          <p:cNvSpPr txBox="1"/>
          <p:nvPr/>
        </p:nvSpPr>
        <p:spPr>
          <a:xfrm>
            <a:off x="8412480" y="3931920"/>
            <a:ext cx="281635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B9C6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path written for the departments we audit. It is what makes the site worth linking to from outside Internal Audit.</a:t>
            </a:r>
            <a:endParaRPr lang="en-US" sz="1350" dirty="0"/>
          </a:p>
        </p:txBody>
      </p:sp>
      <p:sp>
        <p:nvSpPr>
          <p:cNvPr id="19" name="Text 17"/>
          <p:cNvSpPr txBox="1"/>
          <p:nvPr/>
        </p:nvSpPr>
        <p:spPr>
          <a:xfrm>
            <a:off x="640080" y="580644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BF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three are built with SharePoint web parts we already have. No new licence, no developer.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274320"/>
            <a:ext cx="106372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20" kern="0" dirty="0">
                <a:solidFill>
                  <a:srgbClr val="1061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PROPOSAL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475488"/>
            <a:ext cx="1063721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800"/>
              </a:lnSpc>
              <a:buNone/>
            </a:pPr>
            <a:r>
              <a:rPr lang="en-US" sz="3300" b="1" dirty="0">
                <a:solidFill>
                  <a:srgbClr val="101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new home page.</a:t>
            </a:r>
            <a:endParaRPr lang="en-US" sz="3300" dirty="0"/>
          </a:p>
        </p:txBody>
      </p:sp>
      <p:pic>
        <p:nvPicPr>
          <p:cNvPr id="4" name="Image 0" descr="deck-her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901952"/>
            <a:ext cx="10908792" cy="370332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640080" y="580644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D5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first screen now answers: where do I go, and how is the plan tracking.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274320"/>
            <a:ext cx="106372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20" kern="0" dirty="0">
                <a:solidFill>
                  <a:srgbClr val="1061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ACCESS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475488"/>
            <a:ext cx="1063721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800"/>
              </a:lnSpc>
              <a:buNone/>
            </a:pPr>
            <a:r>
              <a:rPr lang="en-US" sz="3300" b="1" dirty="0">
                <a:solidFill>
                  <a:srgbClr val="101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Six destinations, one click, nothing competing.</a:t>
            </a:r>
            <a:endParaRPr lang="en-US" sz="3300" dirty="0"/>
          </a:p>
        </p:txBody>
      </p:sp>
      <p:pic>
        <p:nvPicPr>
          <p:cNvPr id="4" name="Image 0" descr="deck-got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920240"/>
            <a:ext cx="10908792" cy="246888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640080" y="4617720"/>
            <a:ext cx="3474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1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TeamMate+ leads</a:t>
            </a:r>
            <a:endParaRPr lang="en-US" sz="1500" dirty="0"/>
          </a:p>
        </p:txBody>
      </p:sp>
      <p:sp>
        <p:nvSpPr>
          <p:cNvPr id="6" name="Text 3"/>
          <p:cNvSpPr txBox="1"/>
          <p:nvPr/>
        </p:nvSpPr>
        <p:spPr>
          <a:xfrm>
            <a:off x="640080" y="4983480"/>
            <a:ext cx="3474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4D5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is the most-used system in the department and had no link at all.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4352544" y="4617720"/>
            <a:ext cx="3474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1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line each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4352544" y="4983480"/>
            <a:ext cx="3474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4D5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Saying what you get, not what the thing is called.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8065008" y="4617720"/>
            <a:ext cx="3474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1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Order is the design</a:t>
            </a:r>
            <a:endParaRPr lang="en-US" sz="1500" dirty="0"/>
          </a:p>
        </p:txBody>
      </p:sp>
      <p:sp>
        <p:nvSpPr>
          <p:cNvPr id="10" name="Text 7"/>
          <p:cNvSpPr txBox="1"/>
          <p:nvPr/>
        </p:nvSpPr>
        <p:spPr>
          <a:xfrm>
            <a:off x="8065008" y="4983480"/>
            <a:ext cx="3474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4D5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bottom two get reviewed after a month of usage data.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274320"/>
            <a:ext cx="106372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20" kern="0" dirty="0">
                <a:solidFill>
                  <a:srgbClr val="1061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REACH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475488"/>
            <a:ext cx="1063721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800"/>
              </a:lnSpc>
              <a:buNone/>
            </a:pPr>
            <a:r>
              <a:rPr lang="en-US" sz="3300" b="1" dirty="0">
                <a:solidFill>
                  <a:srgbClr val="101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ways in — including one for the business.</a:t>
            </a:r>
            <a:endParaRPr lang="en-US" sz="3300" dirty="0"/>
          </a:p>
        </p:txBody>
      </p:sp>
      <p:pic>
        <p:nvPicPr>
          <p:cNvPr id="4" name="Image 0" descr="deck-star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920240"/>
            <a:ext cx="10908792" cy="312724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40080" y="5193792"/>
            <a:ext cx="10908792" cy="1005840"/>
          </a:xfrm>
          <a:prstGeom prst="roundRect">
            <a:avLst>
              <a:gd name="adj" fmla="val 5455"/>
            </a:avLst>
          </a:prstGeom>
          <a:solidFill>
            <a:srgbClr val="F4F7FF"/>
          </a:solidFill>
          <a:ln w="12700">
            <a:solidFill>
              <a:srgbClr val="DDE8FF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960120" y="5394960"/>
            <a:ext cx="10241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400" b="1" dirty="0">
                <a:solidFill>
                  <a:srgbClr val="101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third card is the one that changes our standing. </a:t>
            </a:r>
            <a:pPr indent="0" marL="0">
              <a:lnSpc>
                <a:spcPts val="1900"/>
              </a:lnSpc>
              <a:buNone/>
            </a:pPr>
            <a:r>
              <a:rPr lang="en-US" sz="1400" dirty="0">
                <a:solidFill>
                  <a:srgbClr val="4D5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explains an audit to the departments we audit — what we ask for, how findings get agreed, what closes an issue. Nothing like it exists today.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0005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274320"/>
            <a:ext cx="106372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20" kern="0" dirty="0">
                <a:solidFill>
                  <a:srgbClr val="4BF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DASHBOARD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475488"/>
            <a:ext cx="1063721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800"/>
              </a:lnSpc>
              <a:buNone/>
            </a:pPr>
            <a:r>
              <a:rPr lang="en-US" sz="3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page stops being a leaflet.</a:t>
            </a:r>
            <a:endParaRPr lang="en-US" sz="3300" dirty="0"/>
          </a:p>
        </p:txBody>
      </p:sp>
      <p:pic>
        <p:nvPicPr>
          <p:cNvPr id="4" name="Image 0" descr="deck-dash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920240"/>
            <a:ext cx="6903720" cy="2395728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7863840" y="1938528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4BF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 delivery</a:t>
            </a:r>
            <a:endParaRPr lang="en-US" sz="1450" dirty="0"/>
          </a:p>
        </p:txBody>
      </p:sp>
      <p:sp>
        <p:nvSpPr>
          <p:cNvPr id="6" name="Text 3"/>
          <p:cNvSpPr txBox="1"/>
          <p:nvPr/>
        </p:nvSpPr>
        <p:spPr>
          <a:xfrm>
            <a:off x="7863840" y="2212848"/>
            <a:ext cx="3703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B9C6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engagements reported against the approved plan</a:t>
            </a:r>
            <a:endParaRPr lang="en-US" sz="1250" dirty="0"/>
          </a:p>
        </p:txBody>
      </p:sp>
      <p:sp>
        <p:nvSpPr>
          <p:cNvPr id="7" name="Text 4"/>
          <p:cNvSpPr txBox="1"/>
          <p:nvPr/>
        </p:nvSpPr>
        <p:spPr>
          <a:xfrm>
            <a:off x="7863840" y="2596896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4BF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Fieldwork in flight</a:t>
            </a:r>
            <a:endParaRPr lang="en-US" sz="1450" dirty="0"/>
          </a:p>
        </p:txBody>
      </p:sp>
      <p:sp>
        <p:nvSpPr>
          <p:cNvPr id="8" name="Text 5"/>
          <p:cNvSpPr txBox="1"/>
          <p:nvPr/>
        </p:nvSpPr>
        <p:spPr>
          <a:xfrm>
            <a:off x="7863840" y="2871216"/>
            <a:ext cx="3703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B9C6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which are past their planned end date</a:t>
            </a:r>
            <a:endParaRPr lang="en-US" sz="1250" dirty="0"/>
          </a:p>
        </p:txBody>
      </p:sp>
      <p:sp>
        <p:nvSpPr>
          <p:cNvPr id="9" name="Text 6"/>
          <p:cNvSpPr txBox="1"/>
          <p:nvPr/>
        </p:nvSpPr>
        <p:spPr>
          <a:xfrm>
            <a:off x="7863840" y="3255264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4BF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Issue ageing</a:t>
            </a:r>
            <a:endParaRPr lang="en-US" sz="1450" dirty="0"/>
          </a:p>
        </p:txBody>
      </p:sp>
      <p:sp>
        <p:nvSpPr>
          <p:cNvPr id="10" name="Text 7"/>
          <p:cNvSpPr txBox="1"/>
          <p:nvPr/>
        </p:nvSpPr>
        <p:spPr>
          <a:xfrm>
            <a:off x="7863840" y="3529584"/>
            <a:ext cx="3703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B9C6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actions bucketed at 30, 90 and 180 days</a:t>
            </a:r>
            <a:endParaRPr lang="en-US" sz="1250" dirty="0"/>
          </a:p>
        </p:txBody>
      </p:sp>
      <p:sp>
        <p:nvSpPr>
          <p:cNvPr id="11" name="Text 8"/>
          <p:cNvSpPr txBox="1"/>
          <p:nvPr/>
        </p:nvSpPr>
        <p:spPr>
          <a:xfrm>
            <a:off x="7863840" y="3913632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4BF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Days to close</a:t>
            </a:r>
            <a:endParaRPr lang="en-US" sz="1450" dirty="0"/>
          </a:p>
        </p:txBody>
      </p:sp>
      <p:sp>
        <p:nvSpPr>
          <p:cNvPr id="12" name="Text 9"/>
          <p:cNvSpPr txBox="1"/>
          <p:nvPr/>
        </p:nvSpPr>
        <p:spPr>
          <a:xfrm>
            <a:off x="7863840" y="4187952"/>
            <a:ext cx="3703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B9C6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trend against the 45-day target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640080" y="4572000"/>
            <a:ext cx="10908792" cy="1371600"/>
          </a:xfrm>
          <a:prstGeom prst="roundRect">
            <a:avLst>
              <a:gd name="adj" fmla="val 4000"/>
            </a:avLst>
          </a:prstGeom>
          <a:solidFill>
            <a:srgbClr val="000033"/>
          </a:solidFill>
          <a:ln w="12700">
            <a:solidFill>
              <a:srgbClr val="1C2470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960120" y="4773168"/>
            <a:ext cx="10241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 on Power BI over two SharePoint lists — Engagements and Issues.</a:t>
            </a:r>
            <a:endParaRPr lang="en-US" sz="1500" dirty="0"/>
          </a:p>
        </p:txBody>
      </p:sp>
      <p:sp>
        <p:nvSpPr>
          <p:cNvPr id="15" name="Text 12"/>
          <p:cNvSpPr txBox="1"/>
          <p:nvPr/>
        </p:nvSpPr>
        <p:spPr>
          <a:xfrm>
            <a:off x="960120" y="5120640"/>
            <a:ext cx="10241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B9C6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Those two lists are also the first data model of the in-house platform we want later, so this work is not thrown away — the migration becomes an export rather than a re-keying exercise.</a:t>
            </a:r>
            <a:endParaRPr lang="en-US" sz="13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274320"/>
            <a:ext cx="106372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20" kern="0" dirty="0">
                <a:solidFill>
                  <a:srgbClr val="1061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DEPARTMENT CULTURE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475488"/>
            <a:ext cx="1063721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800"/>
              </a:lnSpc>
              <a:buNone/>
            </a:pPr>
            <a:r>
              <a:rPr lang="en-US" sz="3300" b="1" dirty="0">
                <a:solidFill>
                  <a:srgbClr val="101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Culture is kept — and given a better setting.</a:t>
            </a:r>
            <a:endParaRPr lang="en-US" sz="3300" dirty="0"/>
          </a:p>
        </p:txBody>
      </p:sp>
      <p:pic>
        <p:nvPicPr>
          <p:cNvPr id="4" name="Image 0" descr="deck-cultur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920240"/>
            <a:ext cx="6766560" cy="297180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7726680" y="192024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01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Nothing is removed</a:t>
            </a:r>
            <a:endParaRPr lang="en-US" sz="1450" dirty="0"/>
          </a:p>
        </p:txBody>
      </p:sp>
      <p:sp>
        <p:nvSpPr>
          <p:cNvPr id="6" name="Text 3"/>
          <p:cNvSpPr txBox="1"/>
          <p:nvPr/>
        </p:nvSpPr>
        <p:spPr>
          <a:xfrm>
            <a:off x="7726680" y="2212848"/>
            <a:ext cx="38862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4D5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SPOC awards, Awareness Month, the Guest Auditor programme, birthdays and the team calendar all stay.</a:t>
            </a:r>
            <a:endParaRPr lang="en-US" sz="1250" dirty="0"/>
          </a:p>
        </p:txBody>
      </p:sp>
      <p:sp>
        <p:nvSpPr>
          <p:cNvPr id="7" name="Text 4"/>
          <p:cNvSpPr txBox="1"/>
          <p:nvPr/>
        </p:nvSpPr>
        <p:spPr>
          <a:xfrm>
            <a:off x="7726680" y="2980944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01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Presented properly</a:t>
            </a:r>
            <a:endParaRPr lang="en-US" sz="1450" dirty="0"/>
          </a:p>
        </p:txBody>
      </p:sp>
      <p:sp>
        <p:nvSpPr>
          <p:cNvPr id="8" name="Text 5"/>
          <p:cNvSpPr txBox="1"/>
          <p:nvPr/>
        </p:nvSpPr>
        <p:spPr>
          <a:xfrm>
            <a:off x="7726680" y="3273552"/>
            <a:ext cx="38862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4D5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gallery with consistent crops and captions, instead of a carousel competing with the mission statement.</a:t>
            </a:r>
            <a:endParaRPr lang="en-US" sz="1250" dirty="0"/>
          </a:p>
        </p:txBody>
      </p:sp>
      <p:sp>
        <p:nvSpPr>
          <p:cNvPr id="9" name="Text 6"/>
          <p:cNvSpPr txBox="1"/>
          <p:nvPr/>
        </p:nvSpPr>
        <p:spPr>
          <a:xfrm>
            <a:off x="7726680" y="4041648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01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Placed deliberately</a:t>
            </a:r>
            <a:endParaRPr lang="en-US" sz="1450" dirty="0"/>
          </a:p>
        </p:txBody>
      </p:sp>
      <p:sp>
        <p:nvSpPr>
          <p:cNvPr id="10" name="Text 7"/>
          <p:cNvSpPr txBox="1"/>
          <p:nvPr/>
        </p:nvSpPr>
        <p:spPr>
          <a:xfrm>
            <a:off x="7726680" y="4334256"/>
            <a:ext cx="38862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4D5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Below the working content, so the page earns a daily visit and culture is what people find when they stay.</a:t>
            </a:r>
            <a:endParaRPr lang="en-US" sz="1250" dirty="0"/>
          </a:p>
        </p:txBody>
      </p:sp>
      <p:sp>
        <p:nvSpPr>
          <p:cNvPr id="11" name="Text 8"/>
          <p:cNvSpPr txBox="1"/>
          <p:nvPr/>
        </p:nvSpPr>
        <p:spPr>
          <a:xfrm>
            <a:off x="640080" y="4983480"/>
            <a:ext cx="6766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E79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Images shown are placeholder brand art. Final build uses the department’s own photographs.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274320"/>
            <a:ext cx="106372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20" kern="0" dirty="0">
                <a:solidFill>
                  <a:srgbClr val="1061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EXPECTED OUTCOME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475488"/>
            <a:ext cx="1063721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800"/>
              </a:lnSpc>
              <a:buNone/>
            </a:pPr>
            <a:r>
              <a:rPr lang="en-US" sz="3300" b="1" dirty="0">
                <a:solidFill>
                  <a:srgbClr val="101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this gets visited, when the old page did not.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5440680" cy="1463040"/>
          </a:xfrm>
          <a:prstGeom prst="roundRect">
            <a:avLst>
              <a:gd name="adj" fmla="val 3750"/>
            </a:avLst>
          </a:prstGeom>
          <a:solidFill>
            <a:srgbClr val="F4F7FF"/>
          </a:solidFill>
          <a:ln w="12700">
            <a:solidFill>
              <a:srgbClr val="DDE8FF"/>
            </a:solidFill>
            <a:prstDash val="solid"/>
          </a:ln>
          <a:effectLst>
            <a:outerShdw sx="100000" sy="100000" kx="0" ky="0" algn="bl" rotWithShape="0" blurRad="177800" dist="38100" dir="5400000">
              <a:srgbClr val="10154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05840" y="2167128"/>
            <a:ext cx="384048" cy="384048"/>
          </a:xfrm>
          <a:prstGeom prst="roundRect">
            <a:avLst>
              <a:gd name="adj" fmla="val 23810"/>
            </a:avLst>
          </a:prstGeom>
          <a:solidFill>
            <a:srgbClr val="F4F7FF"/>
          </a:solidFill>
          <a:ln w="15875">
            <a:solidFill>
              <a:srgbClr val="4BF5F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05840" y="21671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061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1554480" y="2130552"/>
            <a:ext cx="4297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1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holds the tools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1554480" y="2496312"/>
            <a:ext cx="4251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4D5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auditor who needs TeamMate+ or a template now has a reason to start here rather than at a bookmark.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446520" y="1874520"/>
            <a:ext cx="5440680" cy="1463040"/>
          </a:xfrm>
          <a:prstGeom prst="roundRect">
            <a:avLst>
              <a:gd name="adj" fmla="val 3750"/>
            </a:avLst>
          </a:prstGeom>
          <a:solidFill>
            <a:srgbClr val="F4F7FF"/>
          </a:solidFill>
          <a:ln w="12700">
            <a:solidFill>
              <a:srgbClr val="DDE8FF"/>
            </a:solidFill>
            <a:prstDash val="solid"/>
          </a:ln>
          <a:effectLst>
            <a:outerShdw sx="100000" sy="100000" kx="0" ky="0" algn="bl" rotWithShape="0" blurRad="177800" dist="38100" dir="5400000">
              <a:srgbClr val="10154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812280" y="2167128"/>
            <a:ext cx="384048" cy="384048"/>
          </a:xfrm>
          <a:prstGeom prst="roundRect">
            <a:avLst>
              <a:gd name="adj" fmla="val 23810"/>
            </a:avLst>
          </a:prstGeom>
          <a:solidFill>
            <a:srgbClr val="F4F7FF"/>
          </a:solidFill>
          <a:ln w="15875">
            <a:solidFill>
              <a:srgbClr val="4BF5F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812280" y="21671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061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7360920" y="2130552"/>
            <a:ext cx="4297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1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numbers move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7360920" y="2496312"/>
            <a:ext cx="4251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4D5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delivery and issue ageing change every week. Static pages are read once; live ones are checked.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40080" y="3566160"/>
            <a:ext cx="5440680" cy="1463040"/>
          </a:xfrm>
          <a:prstGeom prst="roundRect">
            <a:avLst>
              <a:gd name="adj" fmla="val 3750"/>
            </a:avLst>
          </a:prstGeom>
          <a:solidFill>
            <a:srgbClr val="F4F7FF"/>
          </a:solidFill>
          <a:ln w="12700">
            <a:solidFill>
              <a:srgbClr val="DDE8FF"/>
            </a:solidFill>
            <a:prstDash val="solid"/>
          </a:ln>
          <a:effectLst>
            <a:outerShdw sx="100000" sy="100000" kx="0" ky="0" algn="bl" rotWithShape="0" blurRad="177800" dist="38100" dir="5400000">
              <a:srgbClr val="10154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1005840" y="3858768"/>
            <a:ext cx="384048" cy="384048"/>
          </a:xfrm>
          <a:prstGeom prst="roundRect">
            <a:avLst>
              <a:gd name="adj" fmla="val 23810"/>
            </a:avLst>
          </a:prstGeom>
          <a:solidFill>
            <a:srgbClr val="F4F7FF"/>
          </a:solidFill>
          <a:ln w="15875">
            <a:solidFill>
              <a:srgbClr val="4BF5F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1005840" y="38587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061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1554480" y="3822192"/>
            <a:ext cx="4297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1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updates itself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1554480" y="4187952"/>
            <a:ext cx="4251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4D5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Highlighted content queries the library, so publishing a document refreshes the page with no one editing it.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446520" y="3566160"/>
            <a:ext cx="5440680" cy="1463040"/>
          </a:xfrm>
          <a:prstGeom prst="roundRect">
            <a:avLst>
              <a:gd name="adj" fmla="val 3750"/>
            </a:avLst>
          </a:prstGeom>
          <a:solidFill>
            <a:srgbClr val="F4F7FF"/>
          </a:solidFill>
          <a:ln w="12700">
            <a:solidFill>
              <a:srgbClr val="DDE8FF"/>
            </a:solidFill>
            <a:prstDash val="solid"/>
          </a:ln>
          <a:effectLst>
            <a:outerShdw sx="100000" sy="100000" kx="0" ky="0" algn="bl" rotWithShape="0" blurRad="177800" dist="38100" dir="5400000">
              <a:srgbClr val="10154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812280" y="3858768"/>
            <a:ext cx="384048" cy="384048"/>
          </a:xfrm>
          <a:prstGeom prst="roundRect">
            <a:avLst>
              <a:gd name="adj" fmla="val 23810"/>
            </a:avLst>
          </a:prstGeom>
          <a:solidFill>
            <a:srgbClr val="F4F7FF"/>
          </a:solidFill>
          <a:ln w="15875">
            <a:solidFill>
              <a:srgbClr val="4BF5FF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812280" y="38587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061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7360920" y="3822192"/>
            <a:ext cx="4297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1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has an audience outside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7360920" y="4187952"/>
            <a:ext cx="4251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4D5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“being audited” path gives other departments a reason to open and share the link.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640080" y="5321808"/>
            <a:ext cx="10908792" cy="868680"/>
          </a:xfrm>
          <a:prstGeom prst="roundRect">
            <a:avLst>
              <a:gd name="adj" fmla="val 6316"/>
            </a:avLst>
          </a:prstGeom>
          <a:solidFill>
            <a:srgbClr val="FFF4E5"/>
          </a:solidFill>
          <a:ln w="12700">
            <a:solidFill>
              <a:srgbClr val="F0D5AE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960120" y="5504688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b="1" dirty="0">
                <a:solidFill>
                  <a:srgbClr val="8A5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we will know:  </a:t>
            </a:r>
            <a:pPr indent="0" marL="0">
              <a:lnSpc>
                <a:spcPts val="1800"/>
              </a:lnSpc>
              <a:buNone/>
            </a:pPr>
            <a:r>
              <a:rPr lang="en-US" sz="1350" dirty="0">
                <a:solidFill>
                  <a:srgbClr val="8A5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baseline visits and unique visitors from SharePoint Site usage the week before launch, and review at 30 and 90 days. No target is claimed until that baseline exists.</a:t>
            </a:r>
            <a:endParaRPr lang="en-US" sz="13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274320"/>
            <a:ext cx="106372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20" kern="0" dirty="0">
                <a:solidFill>
                  <a:srgbClr val="1061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DELIVERY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475488"/>
            <a:ext cx="1063721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800"/>
              </a:lnSpc>
              <a:buNone/>
            </a:pPr>
            <a:r>
              <a:rPr lang="en-US" sz="3300" b="1" dirty="0">
                <a:solidFill>
                  <a:srgbClr val="101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weeks, no developer, no new licence.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640080" y="2011680"/>
            <a:ext cx="3474720" cy="2971800"/>
          </a:xfrm>
          <a:prstGeom prst="roundRect">
            <a:avLst>
              <a:gd name="adj" fmla="val 1846"/>
            </a:avLst>
          </a:prstGeom>
          <a:solidFill>
            <a:srgbClr val="F4F7FF"/>
          </a:solidFill>
          <a:ln w="12700">
            <a:solidFill>
              <a:srgbClr val="DDE8FF"/>
            </a:solidFill>
            <a:prstDash val="solid"/>
          </a:ln>
          <a:effectLst>
            <a:outerShdw sx="100000" sy="100000" kx="0" ky="0" algn="bl" rotWithShape="0" blurRad="177800" dist="38100" dir="5400000">
              <a:srgbClr val="101540">
                <a:alpha val="10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987552" y="22860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061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1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987552" y="2633472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01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Foundation</a:t>
            </a:r>
            <a:endParaRPr lang="en-US" sz="2100" dirty="0"/>
          </a:p>
        </p:txBody>
      </p:sp>
      <p:sp>
        <p:nvSpPr>
          <p:cNvPr id="7" name="Text 5"/>
          <p:cNvSpPr txBox="1"/>
          <p:nvPr/>
        </p:nvSpPr>
        <p:spPr>
          <a:xfrm>
            <a:off x="987552" y="3182112"/>
            <a:ext cx="2816352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4D5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Theme applied, page skeleton built, navigation rewritten to seven destinations.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4352544" y="2011680"/>
            <a:ext cx="3474720" cy="2971800"/>
          </a:xfrm>
          <a:prstGeom prst="roundRect">
            <a:avLst>
              <a:gd name="adj" fmla="val 1846"/>
            </a:avLst>
          </a:prstGeom>
          <a:solidFill>
            <a:srgbClr val="F4F7FF"/>
          </a:solidFill>
          <a:ln w="12700">
            <a:solidFill>
              <a:srgbClr val="DDE8FF"/>
            </a:solidFill>
            <a:prstDash val="solid"/>
          </a:ln>
          <a:effectLst>
            <a:outerShdw sx="100000" sy="100000" kx="0" ky="0" algn="bl" rotWithShape="0" blurRad="177800" dist="38100" dir="5400000">
              <a:srgbClr val="101540">
                <a:alpha val="10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4700016" y="22860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061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2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4700016" y="2633472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01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Content</a:t>
            </a:r>
            <a:endParaRPr lang="en-US" sz="2100" dirty="0"/>
          </a:p>
        </p:txBody>
      </p:sp>
      <p:sp>
        <p:nvSpPr>
          <p:cNvPr id="11" name="Text 9"/>
          <p:cNvSpPr txBox="1"/>
          <p:nvPr/>
        </p:nvSpPr>
        <p:spPr>
          <a:xfrm>
            <a:off x="4700016" y="3182112"/>
            <a:ext cx="2816352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4D5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Icon set, the three audience paths written, methodology index and request form live.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8065008" y="2011680"/>
            <a:ext cx="3474720" cy="2971800"/>
          </a:xfrm>
          <a:prstGeom prst="roundRect">
            <a:avLst>
              <a:gd name="adj" fmla="val 1846"/>
            </a:avLst>
          </a:prstGeom>
          <a:solidFill>
            <a:srgbClr val="000050"/>
          </a:solidFill>
          <a:ln w="12700">
            <a:solidFill>
              <a:srgbClr val="000050"/>
            </a:solidFill>
            <a:prstDash val="solid"/>
          </a:ln>
          <a:effectLst>
            <a:outerShdw sx="100000" sy="100000" kx="0" ky="0" algn="bl" rotWithShape="0" blurRad="177800" dist="38100" dir="5400000">
              <a:srgbClr val="101540">
                <a:alpha val="10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8412480" y="22860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4BF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3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8412480" y="2633472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data</a:t>
            </a:r>
            <a:endParaRPr lang="en-US" sz="2100" dirty="0"/>
          </a:p>
        </p:txBody>
      </p:sp>
      <p:sp>
        <p:nvSpPr>
          <p:cNvPr id="15" name="Text 13"/>
          <p:cNvSpPr txBox="1"/>
          <p:nvPr/>
        </p:nvSpPr>
        <p:spPr>
          <a:xfrm>
            <a:off x="8412480" y="3182112"/>
            <a:ext cx="2816352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B9C6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Engagements and Issues lists built, Power BI report pinned, then publish and baseline.</a:t>
            </a:r>
            <a:endParaRPr lang="en-US" sz="1350" dirty="0"/>
          </a:p>
        </p:txBody>
      </p:sp>
      <p:sp>
        <p:nvSpPr>
          <p:cNvPr id="16" name="Text 14"/>
          <p:cNvSpPr txBox="1"/>
          <p:nvPr/>
        </p:nvSpPr>
        <p:spPr>
          <a:xfrm>
            <a:off x="640080" y="525780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D5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Roughly seven working days of effort inside the IA Excellence team.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0005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banner-navy-hatch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50">
              <a:alpha val="82000"/>
            </a:srgbClr>
          </a:solidFill>
          <a:ln/>
        </p:spPr>
      </p:sp>
      <p:sp>
        <p:nvSpPr>
          <p:cNvPr id="4" name="Text 1"/>
          <p:cNvSpPr txBox="1"/>
          <p:nvPr/>
        </p:nvSpPr>
        <p:spPr>
          <a:xfrm>
            <a:off x="640080" y="274320"/>
            <a:ext cx="106372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20" kern="0" dirty="0">
                <a:solidFill>
                  <a:srgbClr val="4BF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WE NEED</a:t>
            </a:r>
            <a:endParaRPr lang="en-US" sz="11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475488"/>
            <a:ext cx="1063721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800"/>
              </a:lnSpc>
              <a:buNone/>
            </a:pPr>
            <a:r>
              <a:rPr lang="en-US" sz="3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Four decisions, then we build.</a:t>
            </a:r>
            <a:endParaRPr lang="en-US" sz="3300" dirty="0"/>
          </a:p>
        </p:txBody>
      </p:sp>
      <p:sp>
        <p:nvSpPr>
          <p:cNvPr id="6" name="Shape 3"/>
          <p:cNvSpPr/>
          <p:nvPr/>
        </p:nvSpPr>
        <p:spPr>
          <a:xfrm>
            <a:off x="658368" y="2066544"/>
            <a:ext cx="384048" cy="384048"/>
          </a:xfrm>
          <a:prstGeom prst="roundRect">
            <a:avLst>
              <a:gd name="adj" fmla="val 23810"/>
            </a:avLst>
          </a:prstGeom>
          <a:solidFill>
            <a:srgbClr val="000050"/>
          </a:solidFill>
          <a:ln w="15875">
            <a:solidFill>
              <a:srgbClr val="4BF5FF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658368" y="206654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BF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1280160" y="2011680"/>
            <a:ext cx="5120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the site to the organisation</a:t>
            </a:r>
            <a:endParaRPr lang="en-US" sz="1700" dirty="0"/>
          </a:p>
        </p:txBody>
      </p:sp>
      <p:sp>
        <p:nvSpPr>
          <p:cNvPr id="9" name="Text 6"/>
          <p:cNvSpPr txBox="1"/>
          <p:nvPr/>
        </p:nvSpPr>
        <p:spPr>
          <a:xfrm>
            <a:off x="1280160" y="2359152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dirty="0">
                <a:solidFill>
                  <a:srgbClr val="B9C6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access for all staff, working files moved to a closed library.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658368" y="3054096"/>
            <a:ext cx="384048" cy="384048"/>
          </a:xfrm>
          <a:prstGeom prst="roundRect">
            <a:avLst>
              <a:gd name="adj" fmla="val 23810"/>
            </a:avLst>
          </a:prstGeom>
          <a:solidFill>
            <a:srgbClr val="000050"/>
          </a:solidFill>
          <a:ln w="15875">
            <a:solidFill>
              <a:srgbClr val="4BF5FF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658368" y="30540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BF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9"/>
          <p:cNvSpPr txBox="1"/>
          <p:nvPr/>
        </p:nvSpPr>
        <p:spPr>
          <a:xfrm>
            <a:off x="1280160" y="2999232"/>
            <a:ext cx="5120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Power BI licences</a:t>
            </a:r>
            <a:endParaRPr lang="en-US" sz="1700" dirty="0"/>
          </a:p>
        </p:txBody>
      </p:sp>
      <p:sp>
        <p:nvSpPr>
          <p:cNvPr id="13" name="Text 10"/>
          <p:cNvSpPr txBox="1"/>
          <p:nvPr/>
        </p:nvSpPr>
        <p:spPr>
          <a:xfrm>
            <a:off x="1280160" y="3346704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dirty="0">
                <a:solidFill>
                  <a:srgbClr val="B9C6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everyone expected to view the dashboard, or it shows them a sign-in prompt.</a:t>
            </a:r>
            <a:endParaRPr lang="en-US" sz="1350" dirty="0"/>
          </a:p>
        </p:txBody>
      </p:sp>
      <p:sp>
        <p:nvSpPr>
          <p:cNvPr id="14" name="Shape 11"/>
          <p:cNvSpPr/>
          <p:nvPr/>
        </p:nvSpPr>
        <p:spPr>
          <a:xfrm>
            <a:off x="658368" y="4041648"/>
            <a:ext cx="384048" cy="384048"/>
          </a:xfrm>
          <a:prstGeom prst="roundRect">
            <a:avLst>
              <a:gd name="adj" fmla="val 23810"/>
            </a:avLst>
          </a:prstGeom>
          <a:solidFill>
            <a:srgbClr val="000050"/>
          </a:solidFill>
          <a:ln w="15875">
            <a:solidFill>
              <a:srgbClr val="4BF5FF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658368" y="40416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BF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16" name="Text 13"/>
          <p:cNvSpPr txBox="1"/>
          <p:nvPr/>
        </p:nvSpPr>
        <p:spPr>
          <a:xfrm>
            <a:off x="1280160" y="3986784"/>
            <a:ext cx="5120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named owners</a:t>
            </a:r>
            <a:endParaRPr lang="en-US" sz="1700" dirty="0"/>
          </a:p>
        </p:txBody>
      </p:sp>
      <p:sp>
        <p:nvSpPr>
          <p:cNvPr id="17" name="Text 14"/>
          <p:cNvSpPr txBox="1"/>
          <p:nvPr/>
        </p:nvSpPr>
        <p:spPr>
          <a:xfrm>
            <a:off x="1280160" y="4334256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dirty="0">
                <a:solidFill>
                  <a:srgbClr val="B9C6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methodology, TeamMate+ access and analytics requests. Not a shared mailbox.</a:t>
            </a:r>
            <a:endParaRPr lang="en-US" sz="1350" dirty="0"/>
          </a:p>
        </p:txBody>
      </p:sp>
      <p:sp>
        <p:nvSpPr>
          <p:cNvPr id="18" name="Shape 15"/>
          <p:cNvSpPr/>
          <p:nvPr/>
        </p:nvSpPr>
        <p:spPr>
          <a:xfrm>
            <a:off x="658368" y="5029200"/>
            <a:ext cx="384048" cy="384048"/>
          </a:xfrm>
          <a:prstGeom prst="roundRect">
            <a:avLst>
              <a:gd name="adj" fmla="val 23810"/>
            </a:avLst>
          </a:prstGeom>
          <a:solidFill>
            <a:srgbClr val="000050"/>
          </a:solidFill>
          <a:ln w="15875">
            <a:solidFill>
              <a:srgbClr val="4BF5FF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658368" y="5029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BF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300" dirty="0"/>
          </a:p>
        </p:txBody>
      </p:sp>
      <p:sp>
        <p:nvSpPr>
          <p:cNvPr id="20" name="Text 17"/>
          <p:cNvSpPr txBox="1"/>
          <p:nvPr/>
        </p:nvSpPr>
        <p:spPr>
          <a:xfrm>
            <a:off x="1280160" y="4974336"/>
            <a:ext cx="5120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Agreement on the audited-party page</a:t>
            </a:r>
            <a:endParaRPr lang="en-US" sz="1700" dirty="0"/>
          </a:p>
        </p:txBody>
      </p:sp>
      <p:sp>
        <p:nvSpPr>
          <p:cNvPr id="21" name="Text 18"/>
          <p:cNvSpPr txBox="1"/>
          <p:nvPr/>
        </p:nvSpPr>
        <p:spPr>
          <a:xfrm>
            <a:off x="1280160" y="5321808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dirty="0">
                <a:solidFill>
                  <a:srgbClr val="B9C6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content is ours to write; the tone is a management call.</a:t>
            </a:r>
            <a:endParaRPr lang="en-US" sz="1350" dirty="0"/>
          </a:p>
        </p:txBody>
      </p:sp>
      <p:sp>
        <p:nvSpPr>
          <p:cNvPr id="22" name="Shape 19"/>
          <p:cNvSpPr/>
          <p:nvPr/>
        </p:nvSpPr>
        <p:spPr>
          <a:xfrm>
            <a:off x="7406640" y="2011680"/>
            <a:ext cx="4114800" cy="3931920"/>
          </a:xfrm>
          <a:prstGeom prst="roundRect">
            <a:avLst>
              <a:gd name="adj" fmla="val 1395"/>
            </a:avLst>
          </a:prstGeom>
          <a:solidFill>
            <a:srgbClr val="000033"/>
          </a:solidFill>
          <a:ln w="12700">
            <a:solidFill>
              <a:srgbClr val="1C2470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7772400" y="2331720"/>
            <a:ext cx="3474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4BF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 after this</a:t>
            </a:r>
            <a:endParaRPr lang="en-US" sz="1100" dirty="0"/>
          </a:p>
        </p:txBody>
      </p:sp>
      <p:sp>
        <p:nvSpPr>
          <p:cNvPr id="24" name="Text 21"/>
          <p:cNvSpPr txBox="1"/>
          <p:nvPr/>
        </p:nvSpPr>
        <p:spPr>
          <a:xfrm>
            <a:off x="7772400" y="2697480"/>
            <a:ext cx="3474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in-house platform</a:t>
            </a:r>
            <a:endParaRPr lang="en-US" sz="2400" dirty="0"/>
          </a:p>
        </p:txBody>
      </p:sp>
      <p:sp>
        <p:nvSpPr>
          <p:cNvPr id="25" name="Text 22"/>
          <p:cNvSpPr txBox="1"/>
          <p:nvPr/>
        </p:nvSpPr>
        <p:spPr>
          <a:xfrm>
            <a:off x="7772400" y="3611880"/>
            <a:ext cx="34290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B9C6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build is the prototype of its data model, not a detour from it. The Engagements and Issues lists carry across; the SharePoint page becomes the front door while the platform is built behind it.</a:t>
            </a:r>
            <a:endParaRPr lang="en-US" sz="13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2026-09-16T18:07:09Z</dcterms:created>
  <dcterms:modified xsi:type="dcterms:W3CDTF">2026-09-16T18:07:09Z</dcterms:modified>
</cp:coreProperties>
</file>
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the structure of the page as it stands. Right is the proposal, built from web parts already in our Toolbox.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genuinely new items: quick links to the systems, the assurance dashboard, ATHEER, the team page and the breakfast fund board. Everything else on the current site is carried across, not dropped. The gamification layer is new in full, and is deliberately limited to participation.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240" kern="0" dirty="0">
                <a:solidFill>
                  <a:srgbClr val="1061FF"/>
                </a:solidFill>
                <a:latin typeface="Arial" pitchFamily="34" charset="0"/>
                <a:ea typeface="Arial" pitchFamily="34" charset="-122"/>
                <a:cs typeface="Arial" pitchFamily="34" charset="-120"/>
              </a:rPr>
              <a:t>LOOK AND FEEL</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indent="0" marL="0">
              <a:buNone/>
            </a:pPr>
            <a:r>
              <a:rPr lang="en-US" sz="3100" b="1" dirty="0">
                <a:solidFill>
                  <a:srgbClr val="101540"/>
                </a:solidFill>
                <a:latin typeface="Arial" pitchFamily="34" charset="0"/>
                <a:ea typeface="Arial" pitchFamily="34" charset="-122"/>
                <a:cs typeface="Arial" pitchFamily="34" charset="-120"/>
              </a:rPr>
              <a:t>What it is today, and what it becomes.</a:t>
            </a:r>
            <a:endParaRPr lang="en-US" sz="3100" dirty="0"/>
          </a:p>
        </p:txBody>
      </p:sp>
      <p:sp>
        <p:nvSpPr>
          <p:cNvPr id="4" name="Shape 2"/>
          <p:cNvSpPr/>
          <p:nvPr/>
        </p:nvSpPr>
        <p:spPr>
          <a:xfrm>
            <a:off x="548640" y="1353312"/>
            <a:ext cx="5486400" cy="4892040"/>
          </a:xfrm>
          <a:prstGeom prst="roundRect">
            <a:avLst>
              <a:gd name="adj" fmla="val 748"/>
            </a:avLst>
          </a:prstGeom>
          <a:solidFill>
            <a:srgbClr val="F2F2F2"/>
          </a:solidFill>
          <a:ln w="12700">
            <a:solidFill>
              <a:srgbClr val="E0E0E0"/>
            </a:solidFill>
            <a:prstDash val="solid"/>
          </a:ln>
        </p:spPr>
      </p:sp>
      <p:sp>
        <p:nvSpPr>
          <p:cNvPr id="5" name="Text 3"/>
          <p:cNvSpPr txBox="1"/>
          <p:nvPr/>
        </p:nvSpPr>
        <p:spPr>
          <a:xfrm>
            <a:off x="868680" y="1572768"/>
            <a:ext cx="1828800" cy="256032"/>
          </a:xfrm>
          <a:prstGeom prst="rect">
            <a:avLst/>
          </a:prstGeom>
          <a:noFill/>
          <a:ln/>
        </p:spPr>
        <p:txBody>
          <a:bodyPr wrap="square" lIns="0" tIns="0" rIns="0" bIns="0" rtlCol="0" anchor="ctr"/>
          <a:lstStyle/>
          <a:p>
            <a:pPr indent="0" marL="0">
              <a:buNone/>
            </a:pPr>
            <a:r>
              <a:rPr lang="en-US" sz="1100" b="1" spc="200" kern="0" dirty="0">
                <a:solidFill>
                  <a:srgbClr val="767676"/>
                </a:solidFill>
                <a:latin typeface="Arial" pitchFamily="34" charset="0"/>
                <a:ea typeface="Arial" pitchFamily="34" charset="-122"/>
                <a:cs typeface="Arial" pitchFamily="34" charset="-120"/>
              </a:rPr>
              <a:t>TODAY</a:t>
            </a:r>
            <a:endParaRPr lang="en-US" sz="1100" dirty="0"/>
          </a:p>
        </p:txBody>
      </p:sp>
      <p:pic>
        <p:nvPicPr>
          <p:cNvPr id="6" name="Image 0" descr="cmp-before-crop.png">    </p:cNvPr>
          <p:cNvPicPr>
            <a:picLocks noChangeAspect="1"/>
          </p:cNvPicPr>
          <p:nvPr/>
        </p:nvPicPr>
        <p:blipFill>
          <a:blip r:embed="rId1"/>
          <a:srcRect l="0" r="0" t="0" b="0"/>
          <a:stretch/>
        </p:blipFill>
        <p:spPr>
          <a:xfrm>
            <a:off x="868680" y="1920240"/>
            <a:ext cx="2331720" cy="2615184"/>
          </a:xfrm>
          <a:prstGeom prst="rect">
            <a:avLst/>
          </a:prstGeom>
        </p:spPr>
      </p:pic>
      <p:sp>
        <p:nvSpPr>
          <p:cNvPr id="7" name="Text 4"/>
          <p:cNvSpPr txBox="1"/>
          <p:nvPr/>
        </p:nvSpPr>
        <p:spPr>
          <a:xfrm>
            <a:off x="3401568" y="1920240"/>
            <a:ext cx="2468880" cy="237744"/>
          </a:xfrm>
          <a:prstGeom prst="rect">
            <a:avLst/>
          </a:prstGeom>
          <a:noFill/>
          <a:ln/>
        </p:spPr>
        <p:txBody>
          <a:bodyPr wrap="square" lIns="0" tIns="0" rIns="0" bIns="0" rtlCol="0" anchor="ctr"/>
          <a:lstStyle/>
          <a:p>
            <a:pPr indent="0" marL="0">
              <a:buNone/>
            </a:pPr>
            <a:r>
              <a:rPr lang="en-US" sz="1250" b="1" dirty="0">
                <a:solidFill>
                  <a:srgbClr val="3B3B3B"/>
                </a:solidFill>
                <a:latin typeface="Arial" pitchFamily="34" charset="0"/>
                <a:ea typeface="Arial" pitchFamily="34" charset="-122"/>
                <a:cs typeface="Arial" pitchFamily="34" charset="-120"/>
              </a:rPr>
              <a:t>A noticeboard</a:t>
            </a:r>
            <a:endParaRPr lang="en-US" sz="1250" dirty="0"/>
          </a:p>
        </p:txBody>
      </p:sp>
      <p:sp>
        <p:nvSpPr>
          <p:cNvPr id="8" name="Text 5"/>
          <p:cNvSpPr txBox="1"/>
          <p:nvPr/>
        </p:nvSpPr>
        <p:spPr>
          <a:xfrm>
            <a:off x="3401568" y="2167128"/>
            <a:ext cx="2395728" cy="512064"/>
          </a:xfrm>
          <a:prstGeom prst="rect">
            <a:avLst/>
          </a:prstGeom>
          <a:noFill/>
          <a:ln/>
        </p:spPr>
        <p:txBody>
          <a:bodyPr wrap="square" lIns="0" tIns="0" rIns="0" bIns="0" rtlCol="0" anchor="ctr"/>
          <a:lstStyle/>
          <a:p>
            <a:pPr indent="0" marL="0">
              <a:lnSpc>
                <a:spcPts val="1400"/>
              </a:lnSpc>
              <a:buNone/>
            </a:pPr>
            <a:r>
              <a:rPr lang="en-US" sz="1100" dirty="0">
                <a:solidFill>
                  <a:srgbClr val="767676"/>
                </a:solidFill>
                <a:latin typeface="Calibri" pitchFamily="34" charset="0"/>
                <a:ea typeface="Calibri" pitchFamily="34" charset="-122"/>
                <a:cs typeface="Calibri" pitchFamily="34" charset="-120"/>
              </a:rPr>
              <a:t>Opens with photo carousel, birthdays and the mission statement.</a:t>
            </a:r>
            <a:endParaRPr lang="en-US" sz="1100" dirty="0"/>
          </a:p>
        </p:txBody>
      </p:sp>
      <p:sp>
        <p:nvSpPr>
          <p:cNvPr id="9" name="Text 6"/>
          <p:cNvSpPr txBox="1"/>
          <p:nvPr/>
        </p:nvSpPr>
        <p:spPr>
          <a:xfrm>
            <a:off x="3401568" y="2670048"/>
            <a:ext cx="2468880" cy="237744"/>
          </a:xfrm>
          <a:prstGeom prst="rect">
            <a:avLst/>
          </a:prstGeom>
          <a:noFill/>
          <a:ln/>
        </p:spPr>
        <p:txBody>
          <a:bodyPr wrap="square" lIns="0" tIns="0" rIns="0" bIns="0" rtlCol="0" anchor="ctr"/>
          <a:lstStyle/>
          <a:p>
            <a:pPr indent="0" marL="0">
              <a:buNone/>
            </a:pPr>
            <a:r>
              <a:rPr lang="en-US" sz="1250" b="1" dirty="0">
                <a:solidFill>
                  <a:srgbClr val="3B3B3B"/>
                </a:solidFill>
                <a:latin typeface="Arial" pitchFamily="34" charset="0"/>
                <a:ea typeface="Arial" pitchFamily="34" charset="-122"/>
                <a:cs typeface="Arial" pitchFamily="34" charset="-120"/>
              </a:rPr>
              <a:t>Default SharePoint</a:t>
            </a:r>
            <a:endParaRPr lang="en-US" sz="1250" dirty="0"/>
          </a:p>
        </p:txBody>
      </p:sp>
      <p:sp>
        <p:nvSpPr>
          <p:cNvPr id="10" name="Text 7"/>
          <p:cNvSpPr txBox="1"/>
          <p:nvPr/>
        </p:nvSpPr>
        <p:spPr>
          <a:xfrm>
            <a:off x="3401568" y="2916936"/>
            <a:ext cx="2395728" cy="512064"/>
          </a:xfrm>
          <a:prstGeom prst="rect">
            <a:avLst/>
          </a:prstGeom>
          <a:noFill/>
          <a:ln/>
        </p:spPr>
        <p:txBody>
          <a:bodyPr wrap="square" lIns="0" tIns="0" rIns="0" bIns="0" rtlCol="0" anchor="ctr"/>
          <a:lstStyle/>
          <a:p>
            <a:pPr indent="0" marL="0">
              <a:lnSpc>
                <a:spcPts val="1400"/>
              </a:lnSpc>
              <a:buNone/>
            </a:pPr>
            <a:r>
              <a:rPr lang="en-US" sz="1100" dirty="0">
                <a:solidFill>
                  <a:srgbClr val="767676"/>
                </a:solidFill>
                <a:latin typeface="Calibri" pitchFamily="34" charset="0"/>
                <a:ea typeface="Calibri" pitchFamily="34" charset="-122"/>
                <a:cs typeface="Calibri" pitchFamily="34" charset="-120"/>
              </a:rPr>
              <a:t>Stock theme, stock icons, mixed image crops, no brand colour.</a:t>
            </a:r>
            <a:endParaRPr lang="en-US" sz="1100" dirty="0"/>
          </a:p>
        </p:txBody>
      </p:sp>
      <p:sp>
        <p:nvSpPr>
          <p:cNvPr id="11" name="Text 8"/>
          <p:cNvSpPr txBox="1"/>
          <p:nvPr/>
        </p:nvSpPr>
        <p:spPr>
          <a:xfrm>
            <a:off x="3401568" y="3419856"/>
            <a:ext cx="2468880" cy="237744"/>
          </a:xfrm>
          <a:prstGeom prst="rect">
            <a:avLst/>
          </a:prstGeom>
          <a:noFill/>
          <a:ln/>
        </p:spPr>
        <p:txBody>
          <a:bodyPr wrap="square" lIns="0" tIns="0" rIns="0" bIns="0" rtlCol="0" anchor="ctr"/>
          <a:lstStyle/>
          <a:p>
            <a:pPr indent="0" marL="0">
              <a:buNone/>
            </a:pPr>
            <a:r>
              <a:rPr lang="en-US" sz="1250" b="1" dirty="0">
                <a:solidFill>
                  <a:srgbClr val="3B3B3B"/>
                </a:solidFill>
                <a:latin typeface="Arial" pitchFamily="34" charset="0"/>
                <a:ea typeface="Arial" pitchFamily="34" charset="-122"/>
                <a:cs typeface="Arial" pitchFamily="34" charset="-120"/>
              </a:rPr>
              <a:t>Read once</a:t>
            </a:r>
            <a:endParaRPr lang="en-US" sz="1250" dirty="0"/>
          </a:p>
        </p:txBody>
      </p:sp>
      <p:sp>
        <p:nvSpPr>
          <p:cNvPr id="12" name="Text 9"/>
          <p:cNvSpPr txBox="1"/>
          <p:nvPr/>
        </p:nvSpPr>
        <p:spPr>
          <a:xfrm>
            <a:off x="3401568" y="3666744"/>
            <a:ext cx="2395728" cy="512064"/>
          </a:xfrm>
          <a:prstGeom prst="rect">
            <a:avLst/>
          </a:prstGeom>
          <a:noFill/>
          <a:ln/>
        </p:spPr>
        <p:txBody>
          <a:bodyPr wrap="square" lIns="0" tIns="0" rIns="0" bIns="0" rtlCol="0" anchor="ctr"/>
          <a:lstStyle/>
          <a:p>
            <a:pPr indent="0" marL="0">
              <a:lnSpc>
                <a:spcPts val="1400"/>
              </a:lnSpc>
              <a:buNone/>
            </a:pPr>
            <a:r>
              <a:rPr lang="en-US" sz="1100" dirty="0">
                <a:solidFill>
                  <a:srgbClr val="767676"/>
                </a:solidFill>
                <a:latin typeface="Calibri" pitchFamily="34" charset="0"/>
                <a:ea typeface="Calibri" pitchFamily="34" charset="-122"/>
                <a:cs typeface="Calibri" pitchFamily="34" charset="-120"/>
              </a:rPr>
              <a:t>Every block static. Links repeat. Nothing changes week to week.</a:t>
            </a:r>
            <a:endParaRPr lang="en-US" sz="1100" dirty="0"/>
          </a:p>
        </p:txBody>
      </p:sp>
      <p:sp>
        <p:nvSpPr>
          <p:cNvPr id="13" name="Text 10"/>
          <p:cNvSpPr txBox="1"/>
          <p:nvPr/>
        </p:nvSpPr>
        <p:spPr>
          <a:xfrm>
            <a:off x="3401568" y="4169664"/>
            <a:ext cx="2468880" cy="237744"/>
          </a:xfrm>
          <a:prstGeom prst="rect">
            <a:avLst/>
          </a:prstGeom>
          <a:noFill/>
          <a:ln/>
        </p:spPr>
        <p:txBody>
          <a:bodyPr wrap="square" lIns="0" tIns="0" rIns="0" bIns="0" rtlCol="0" anchor="ctr"/>
          <a:lstStyle/>
          <a:p>
            <a:pPr indent="0" marL="0">
              <a:buNone/>
            </a:pPr>
            <a:r>
              <a:rPr lang="en-US" sz="1250" b="1" dirty="0">
                <a:solidFill>
                  <a:srgbClr val="3B3B3B"/>
                </a:solidFill>
                <a:latin typeface="Arial" pitchFamily="34" charset="0"/>
                <a:ea typeface="Arial" pitchFamily="34" charset="-122"/>
                <a:cs typeface="Arial" pitchFamily="34" charset="-120"/>
              </a:rPr>
              <a:t>Tools absent</a:t>
            </a:r>
            <a:endParaRPr lang="en-US" sz="1250" dirty="0"/>
          </a:p>
        </p:txBody>
      </p:sp>
      <p:sp>
        <p:nvSpPr>
          <p:cNvPr id="14" name="Text 11"/>
          <p:cNvSpPr txBox="1"/>
          <p:nvPr/>
        </p:nvSpPr>
        <p:spPr>
          <a:xfrm>
            <a:off x="3401568" y="4416552"/>
            <a:ext cx="2395728" cy="512064"/>
          </a:xfrm>
          <a:prstGeom prst="rect">
            <a:avLst/>
          </a:prstGeom>
          <a:noFill/>
          <a:ln/>
        </p:spPr>
        <p:txBody>
          <a:bodyPr wrap="square" lIns="0" tIns="0" rIns="0" bIns="0" rtlCol="0" anchor="ctr"/>
          <a:lstStyle/>
          <a:p>
            <a:pPr indent="0" marL="0">
              <a:lnSpc>
                <a:spcPts val="1400"/>
              </a:lnSpc>
              <a:buNone/>
            </a:pPr>
            <a:r>
              <a:rPr lang="en-US" sz="1100" dirty="0">
                <a:solidFill>
                  <a:srgbClr val="767676"/>
                </a:solidFill>
                <a:latin typeface="Calibri" pitchFamily="34" charset="0"/>
                <a:ea typeface="Calibri" pitchFamily="34" charset="-122"/>
                <a:cs typeface="Calibri" pitchFamily="34" charset="-120"/>
              </a:rPr>
              <a:t>No TeamMate+, no manual, no dashboard on the first screen.</a:t>
            </a:r>
            <a:endParaRPr lang="en-US" sz="1100" dirty="0"/>
          </a:p>
        </p:txBody>
      </p:sp>
      <p:sp>
        <p:nvSpPr>
          <p:cNvPr id="15" name="Shape 12"/>
          <p:cNvSpPr/>
          <p:nvPr/>
        </p:nvSpPr>
        <p:spPr>
          <a:xfrm>
            <a:off x="6144768" y="3657600"/>
            <a:ext cx="457200" cy="384048"/>
          </a:xfrm>
          <a:prstGeom prst="rightArrow">
            <a:avLst/>
          </a:prstGeom>
          <a:solidFill>
            <a:srgbClr val="4BF5FF"/>
          </a:solidFill>
          <a:ln w="12700">
            <a:solidFill>
              <a:srgbClr val="4BF5FF"/>
            </a:solidFill>
            <a:prstDash val="solid"/>
          </a:ln>
        </p:spPr>
      </p:sp>
      <p:sp>
        <p:nvSpPr>
          <p:cNvPr id="16" name="Shape 13"/>
          <p:cNvSpPr/>
          <p:nvPr/>
        </p:nvSpPr>
        <p:spPr>
          <a:xfrm>
            <a:off x="6693408" y="1353312"/>
            <a:ext cx="4937760" cy="4892040"/>
          </a:xfrm>
          <a:prstGeom prst="roundRect">
            <a:avLst>
              <a:gd name="adj" fmla="val 748"/>
            </a:avLst>
          </a:prstGeom>
          <a:solidFill>
            <a:srgbClr val="000050"/>
          </a:solidFill>
          <a:ln w="12700">
            <a:solidFill>
              <a:srgbClr val="000050"/>
            </a:solidFill>
            <a:prstDash val="solid"/>
          </a:ln>
          <a:effectLst>
            <a:outerShdw sx="100000" sy="100000" kx="0" ky="0" algn="bl" rotWithShape="0" blurRad="203200" dist="38100" dir="5400000">
              <a:srgbClr val="101540">
                <a:alpha val="12000"/>
              </a:srgbClr>
            </a:outerShdw>
          </a:effectLst>
        </p:spPr>
      </p:sp>
      <p:sp>
        <p:nvSpPr>
          <p:cNvPr id="17" name="Text 14"/>
          <p:cNvSpPr txBox="1"/>
          <p:nvPr/>
        </p:nvSpPr>
        <p:spPr>
          <a:xfrm>
            <a:off x="6967728" y="1572768"/>
            <a:ext cx="2194560" cy="256032"/>
          </a:xfrm>
          <a:prstGeom prst="rect">
            <a:avLst/>
          </a:prstGeom>
          <a:noFill/>
          <a:ln/>
        </p:spPr>
        <p:txBody>
          <a:bodyPr wrap="square" lIns="0" tIns="0" rIns="0" bIns="0" rtlCol="0" anchor="ctr"/>
          <a:lstStyle/>
          <a:p>
            <a:pPr indent="0" marL="0">
              <a:buNone/>
            </a:pPr>
            <a:r>
              <a:rPr lang="en-US" sz="1100" b="1" spc="200" kern="0" dirty="0">
                <a:solidFill>
                  <a:srgbClr val="4BF5FF"/>
                </a:solidFill>
                <a:latin typeface="Arial" pitchFamily="34" charset="0"/>
                <a:ea typeface="Arial" pitchFamily="34" charset="-122"/>
                <a:cs typeface="Arial" pitchFamily="34" charset="-120"/>
              </a:rPr>
              <a:t>PROPOSED</a:t>
            </a:r>
            <a:endParaRPr lang="en-US" sz="1100" dirty="0"/>
          </a:p>
        </p:txBody>
      </p:sp>
      <p:pic>
        <p:nvPicPr>
          <p:cNvPr id="18" name="Image 1" descr="cmp-after-crop.png">    </p:cNvPr>
          <p:cNvPicPr>
            <a:picLocks noChangeAspect="1"/>
          </p:cNvPicPr>
          <p:nvPr/>
        </p:nvPicPr>
        <p:blipFill>
          <a:blip r:embed="rId2"/>
          <a:srcRect l="0" r="0" t="0" b="0"/>
          <a:stretch/>
        </p:blipFill>
        <p:spPr>
          <a:xfrm>
            <a:off x="6967728" y="1920240"/>
            <a:ext cx="2212848" cy="2487168"/>
          </a:xfrm>
          <a:prstGeom prst="rect">
            <a:avLst/>
          </a:prstGeom>
        </p:spPr>
      </p:pic>
      <p:sp>
        <p:nvSpPr>
          <p:cNvPr id="19" name="Text 15"/>
          <p:cNvSpPr txBox="1"/>
          <p:nvPr/>
        </p:nvSpPr>
        <p:spPr>
          <a:xfrm>
            <a:off x="9381744" y="1920240"/>
            <a:ext cx="2103120" cy="237744"/>
          </a:xfrm>
          <a:prstGeom prst="rect">
            <a:avLst/>
          </a:prstGeom>
          <a:noFill/>
          <a:ln/>
        </p:spPr>
        <p:txBody>
          <a:bodyPr wrap="square" lIns="0" tIns="0" rIns="0" bIns="0" rtlCol="0" anchor="ctr"/>
          <a:lstStyle/>
          <a:p>
            <a:pPr indent="0" marL="0">
              <a:buNone/>
            </a:pPr>
            <a:r>
              <a:rPr lang="en-US" sz="1250" b="1" dirty="0">
                <a:solidFill>
                  <a:srgbClr val="4BF5FF"/>
                </a:solidFill>
                <a:latin typeface="Arial" pitchFamily="34" charset="0"/>
                <a:ea typeface="Arial" pitchFamily="34" charset="-122"/>
                <a:cs typeface="Arial" pitchFamily="34" charset="-120"/>
              </a:rPr>
              <a:t>A working surface</a:t>
            </a:r>
            <a:endParaRPr lang="en-US" sz="1250" dirty="0"/>
          </a:p>
        </p:txBody>
      </p:sp>
      <p:sp>
        <p:nvSpPr>
          <p:cNvPr id="20" name="Text 16"/>
          <p:cNvSpPr txBox="1"/>
          <p:nvPr/>
        </p:nvSpPr>
        <p:spPr>
          <a:xfrm>
            <a:off x="9381744" y="2167128"/>
            <a:ext cx="2066544" cy="512064"/>
          </a:xfrm>
          <a:prstGeom prst="rect">
            <a:avLst/>
          </a:prstGeom>
          <a:noFill/>
          <a:ln/>
        </p:spPr>
        <p:txBody>
          <a:bodyPr wrap="square" lIns="0" tIns="0" rIns="0" bIns="0" rtlCol="0" anchor="ctr"/>
          <a:lstStyle/>
          <a:p>
            <a:pPr indent="0" marL="0">
              <a:lnSpc>
                <a:spcPts val="1400"/>
              </a:lnSpc>
              <a:buNone/>
            </a:pPr>
            <a:r>
              <a:rPr lang="en-US" sz="1100" dirty="0">
                <a:solidFill>
                  <a:srgbClr val="B9C6EF"/>
                </a:solidFill>
                <a:latin typeface="Calibri" pitchFamily="34" charset="0"/>
                <a:ea typeface="Calibri" pitchFamily="34" charset="-122"/>
                <a:cs typeface="Calibri" pitchFamily="34" charset="-120"/>
              </a:rPr>
              <a:t>Tools, methodology and live plan status on the first screen.</a:t>
            </a:r>
            <a:endParaRPr lang="en-US" sz="1100" dirty="0"/>
          </a:p>
        </p:txBody>
      </p:sp>
      <p:sp>
        <p:nvSpPr>
          <p:cNvPr id="21" name="Text 17"/>
          <p:cNvSpPr txBox="1"/>
          <p:nvPr/>
        </p:nvSpPr>
        <p:spPr>
          <a:xfrm>
            <a:off x="9381744" y="2670048"/>
            <a:ext cx="2103120" cy="237744"/>
          </a:xfrm>
          <a:prstGeom prst="rect">
            <a:avLst/>
          </a:prstGeom>
          <a:noFill/>
          <a:ln/>
        </p:spPr>
        <p:txBody>
          <a:bodyPr wrap="square" lIns="0" tIns="0" rIns="0" bIns="0" rtlCol="0" anchor="ctr"/>
          <a:lstStyle/>
          <a:p>
            <a:pPr indent="0" marL="0">
              <a:buNone/>
            </a:pPr>
            <a:r>
              <a:rPr lang="en-US" sz="1250" b="1" dirty="0">
                <a:solidFill>
                  <a:srgbClr val="4BF5FF"/>
                </a:solidFill>
                <a:latin typeface="Arial" pitchFamily="34" charset="0"/>
                <a:ea typeface="Arial" pitchFamily="34" charset="-122"/>
                <a:cs typeface="Arial" pitchFamily="34" charset="-120"/>
              </a:rPr>
              <a:t>On brand</a:t>
            </a:r>
            <a:endParaRPr lang="en-US" sz="1250" dirty="0"/>
          </a:p>
        </p:txBody>
      </p:sp>
      <p:sp>
        <p:nvSpPr>
          <p:cNvPr id="22" name="Text 18"/>
          <p:cNvSpPr txBox="1"/>
          <p:nvPr/>
        </p:nvSpPr>
        <p:spPr>
          <a:xfrm>
            <a:off x="9381744" y="2916936"/>
            <a:ext cx="2066544" cy="512064"/>
          </a:xfrm>
          <a:prstGeom prst="rect">
            <a:avLst/>
          </a:prstGeom>
          <a:noFill/>
          <a:ln/>
        </p:spPr>
        <p:txBody>
          <a:bodyPr wrap="square" lIns="0" tIns="0" rIns="0" bIns="0" rtlCol="0" anchor="ctr"/>
          <a:lstStyle/>
          <a:p>
            <a:pPr indent="0" marL="0">
              <a:lnSpc>
                <a:spcPts val="1400"/>
              </a:lnSpc>
              <a:buNone/>
            </a:pPr>
            <a:r>
              <a:rPr lang="en-US" sz="1100" dirty="0">
                <a:solidFill>
                  <a:srgbClr val="B9C6EF"/>
                </a:solidFill>
                <a:latin typeface="Calibri" pitchFamily="34" charset="0"/>
                <a:ea typeface="Calibri" pitchFamily="34" charset="-122"/>
                <a:cs typeface="Calibri" pitchFamily="34" charset="-120"/>
              </a:rPr>
              <a:t>Navy, blue and cyan applied through the site theme and card backgrounds.</a:t>
            </a:r>
            <a:endParaRPr lang="en-US" sz="1100" dirty="0"/>
          </a:p>
        </p:txBody>
      </p:sp>
      <p:sp>
        <p:nvSpPr>
          <p:cNvPr id="23" name="Text 19"/>
          <p:cNvSpPr txBox="1"/>
          <p:nvPr/>
        </p:nvSpPr>
        <p:spPr>
          <a:xfrm>
            <a:off x="9381744" y="3419856"/>
            <a:ext cx="2103120" cy="237744"/>
          </a:xfrm>
          <a:prstGeom prst="rect">
            <a:avLst/>
          </a:prstGeom>
          <a:noFill/>
          <a:ln/>
        </p:spPr>
        <p:txBody>
          <a:bodyPr wrap="square" lIns="0" tIns="0" rIns="0" bIns="0" rtlCol="0" anchor="ctr"/>
          <a:lstStyle/>
          <a:p>
            <a:pPr indent="0" marL="0">
              <a:buNone/>
            </a:pPr>
            <a:r>
              <a:rPr lang="en-US" sz="1250" b="1" dirty="0">
                <a:solidFill>
                  <a:srgbClr val="4BF5FF"/>
                </a:solidFill>
                <a:latin typeface="Arial" pitchFamily="34" charset="0"/>
                <a:ea typeface="Arial" pitchFamily="34" charset="-122"/>
                <a:cs typeface="Arial" pitchFamily="34" charset="-120"/>
              </a:rPr>
              <a:t>Changes weekly</a:t>
            </a:r>
            <a:endParaRPr lang="en-US" sz="1250" dirty="0"/>
          </a:p>
        </p:txBody>
      </p:sp>
      <p:sp>
        <p:nvSpPr>
          <p:cNvPr id="24" name="Text 20"/>
          <p:cNvSpPr txBox="1"/>
          <p:nvPr/>
        </p:nvSpPr>
        <p:spPr>
          <a:xfrm>
            <a:off x="9381744" y="3666744"/>
            <a:ext cx="2066544" cy="512064"/>
          </a:xfrm>
          <a:prstGeom prst="rect">
            <a:avLst/>
          </a:prstGeom>
          <a:noFill/>
          <a:ln/>
        </p:spPr>
        <p:txBody>
          <a:bodyPr wrap="square" lIns="0" tIns="0" rIns="0" bIns="0" rtlCol="0" anchor="ctr"/>
          <a:lstStyle/>
          <a:p>
            <a:pPr indent="0" marL="0">
              <a:lnSpc>
                <a:spcPts val="1400"/>
              </a:lnSpc>
              <a:buNone/>
            </a:pPr>
            <a:r>
              <a:rPr lang="en-US" sz="1100" dirty="0">
                <a:solidFill>
                  <a:srgbClr val="B9C6EF"/>
                </a:solidFill>
                <a:latin typeface="Calibri" pitchFamily="34" charset="0"/>
                <a:ea typeface="Calibri" pitchFamily="34" charset="-122"/>
                <a:cs typeface="Calibri" pitchFamily="34" charset="-120"/>
              </a:rPr>
              <a:t>Dashboard, issue ageing and a self-updating document list.</a:t>
            </a:r>
            <a:endParaRPr lang="en-US" sz="1100" dirty="0"/>
          </a:p>
        </p:txBody>
      </p:sp>
      <p:sp>
        <p:nvSpPr>
          <p:cNvPr id="25" name="Text 21"/>
          <p:cNvSpPr txBox="1"/>
          <p:nvPr/>
        </p:nvSpPr>
        <p:spPr>
          <a:xfrm>
            <a:off x="9381744" y="4169664"/>
            <a:ext cx="2103120" cy="237744"/>
          </a:xfrm>
          <a:prstGeom prst="rect">
            <a:avLst/>
          </a:prstGeom>
          <a:noFill/>
          <a:ln/>
        </p:spPr>
        <p:txBody>
          <a:bodyPr wrap="square" lIns="0" tIns="0" rIns="0" bIns="0" rtlCol="0" anchor="ctr"/>
          <a:lstStyle/>
          <a:p>
            <a:pPr indent="0" marL="0">
              <a:buNone/>
            </a:pPr>
            <a:r>
              <a:rPr lang="en-US" sz="1250" b="1" dirty="0">
                <a:solidFill>
                  <a:srgbClr val="4BF5FF"/>
                </a:solidFill>
                <a:latin typeface="Arial" pitchFamily="34" charset="0"/>
                <a:ea typeface="Arial" pitchFamily="34" charset="-122"/>
                <a:cs typeface="Arial" pitchFamily="34" charset="-120"/>
              </a:rPr>
              <a:t>Open to the business</a:t>
            </a:r>
            <a:endParaRPr lang="en-US" sz="1250" dirty="0"/>
          </a:p>
        </p:txBody>
      </p:sp>
      <p:sp>
        <p:nvSpPr>
          <p:cNvPr id="26" name="Text 22"/>
          <p:cNvSpPr txBox="1"/>
          <p:nvPr/>
        </p:nvSpPr>
        <p:spPr>
          <a:xfrm>
            <a:off x="9381744" y="4416552"/>
            <a:ext cx="2066544" cy="512064"/>
          </a:xfrm>
          <a:prstGeom prst="rect">
            <a:avLst/>
          </a:prstGeom>
          <a:noFill/>
          <a:ln/>
        </p:spPr>
        <p:txBody>
          <a:bodyPr wrap="square" lIns="0" tIns="0" rIns="0" bIns="0" rtlCol="0" anchor="ctr"/>
          <a:lstStyle/>
          <a:p>
            <a:pPr indent="0" marL="0">
              <a:lnSpc>
                <a:spcPts val="1400"/>
              </a:lnSpc>
              <a:buNone/>
            </a:pPr>
            <a:r>
              <a:rPr lang="en-US" sz="1100" dirty="0">
                <a:solidFill>
                  <a:srgbClr val="B9C6EF"/>
                </a:solidFill>
                <a:latin typeface="Calibri" pitchFamily="34" charset="0"/>
                <a:ea typeface="Calibri" pitchFamily="34" charset="-122"/>
                <a:cs typeface="Calibri" pitchFamily="34" charset="-120"/>
              </a:rPr>
              <a:t>A path written for the departments we audit.</a:t>
            </a:r>
            <a:endParaRPr lang="en-US" sz="1100" dirty="0"/>
          </a:p>
        </p:txBody>
      </p:sp>
      <p:sp>
        <p:nvSpPr>
          <p:cNvPr id="27" name="Text 23"/>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250" i="1" dirty="0">
                <a:solidFill>
                  <a:srgbClr val="4D5680"/>
                </a:solidFill>
                <a:latin typeface="Calibri" pitchFamily="34" charset="0"/>
                <a:ea typeface="Calibri" pitchFamily="34" charset="-122"/>
                <a:cs typeface="Calibri" pitchFamily="34" charset="-120"/>
              </a:rPr>
              <a:t>Same SharePoint. Same web parts. Same licences. The change is what the page is for.</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240" kern="0" dirty="0">
                <a:solidFill>
                  <a:srgbClr val="1061FF"/>
                </a:solidFill>
                <a:latin typeface="Arial" pitchFamily="34" charset="0"/>
                <a:ea typeface="Arial" pitchFamily="34" charset="-122"/>
                <a:cs typeface="Arial" pitchFamily="34" charset="-120"/>
              </a:rPr>
              <a:t>WHAT THE PLATFORM CARRIES</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indent="0" marL="0">
              <a:buNone/>
            </a:pPr>
            <a:r>
              <a:rPr lang="en-US" sz="2900" b="1" dirty="0">
                <a:solidFill>
                  <a:srgbClr val="101540"/>
                </a:solidFill>
                <a:latin typeface="Arial" pitchFamily="34" charset="0"/>
                <a:ea typeface="Arial" pitchFamily="34" charset="-122"/>
                <a:cs typeface="Arial" pitchFamily="34" charset="-120"/>
              </a:rPr>
              <a:t>Everything kept. Five added. One new layer.</a:t>
            </a:r>
            <a:endParaRPr lang="en-US" sz="2900" dirty="0"/>
          </a:p>
        </p:txBody>
      </p:sp>
      <p:sp>
        <p:nvSpPr>
          <p:cNvPr id="4" name="Shape 2"/>
          <p:cNvSpPr/>
          <p:nvPr/>
        </p:nvSpPr>
        <p:spPr>
          <a:xfrm>
            <a:off x="548640" y="1389888"/>
            <a:ext cx="3566160" cy="3611880"/>
          </a:xfrm>
          <a:prstGeom prst="roundRect">
            <a:avLst>
              <a:gd name="adj" fmla="val 1282"/>
            </a:avLst>
          </a:prstGeom>
          <a:solidFill>
            <a:srgbClr val="F4F7FF"/>
          </a:solidFill>
          <a:ln w="12700">
            <a:solidFill>
              <a:srgbClr val="DDE8FF"/>
            </a:solidFill>
            <a:prstDash val="solid"/>
          </a:ln>
          <a:effectLst>
            <a:outerShdw sx="100000" sy="100000" kx="0" ky="0" algn="bl" rotWithShape="0" blurRad="203200" dist="38100" dir="5400000">
              <a:srgbClr val="101540">
                <a:alpha val="12000"/>
              </a:srgbClr>
            </a:outerShdw>
          </a:effectLst>
        </p:spPr>
      </p:sp>
      <p:sp>
        <p:nvSpPr>
          <p:cNvPr id="5" name="Shape 3"/>
          <p:cNvSpPr/>
          <p:nvPr/>
        </p:nvSpPr>
        <p:spPr>
          <a:xfrm>
            <a:off x="804672" y="1627632"/>
            <a:ext cx="274320" cy="274320"/>
          </a:xfrm>
          <a:prstGeom prst="roundRect">
            <a:avLst>
              <a:gd name="adj" fmla="val 23333"/>
            </a:avLst>
          </a:prstGeom>
          <a:solidFill>
            <a:srgbClr val="1061FF"/>
          </a:solidFill>
          <a:ln w="12700">
            <a:solidFill>
              <a:srgbClr val="1061FF"/>
            </a:solidFill>
            <a:prstDash val="solid"/>
          </a:ln>
        </p:spPr>
      </p:sp>
      <p:sp>
        <p:nvSpPr>
          <p:cNvPr id="6" name="Text 4"/>
          <p:cNvSpPr txBox="1"/>
          <p:nvPr/>
        </p:nvSpPr>
        <p:spPr>
          <a:xfrm>
            <a:off x="1188720" y="1609344"/>
            <a:ext cx="2743200" cy="310896"/>
          </a:xfrm>
          <a:prstGeom prst="rect">
            <a:avLst/>
          </a:prstGeom>
          <a:noFill/>
          <a:ln/>
        </p:spPr>
        <p:txBody>
          <a:bodyPr wrap="square" lIns="0" tIns="0" rIns="0" bIns="0" rtlCol="0" anchor="ctr"/>
          <a:lstStyle/>
          <a:p>
            <a:pPr indent="0" marL="0">
              <a:buNone/>
            </a:pPr>
            <a:r>
              <a:rPr lang="en-US" sz="1500" b="1" dirty="0">
                <a:solidFill>
                  <a:srgbClr val="101540"/>
                </a:solidFill>
                <a:latin typeface="Arial" pitchFamily="34" charset="0"/>
                <a:ea typeface="Arial" pitchFamily="34" charset="-122"/>
                <a:cs typeface="Arial" pitchFamily="34" charset="-120"/>
              </a:rPr>
              <a:t>Get the work done</a:t>
            </a:r>
            <a:endParaRPr lang="en-US" sz="1500" dirty="0"/>
          </a:p>
        </p:txBody>
      </p:sp>
      <p:sp>
        <p:nvSpPr>
          <p:cNvPr id="7" name="Text 5"/>
          <p:cNvSpPr txBox="1"/>
          <p:nvPr/>
        </p:nvSpPr>
        <p:spPr>
          <a:xfrm>
            <a:off x="804672" y="2048256"/>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Quick links — TM+, Manuals, Shared folder</a:t>
            </a:r>
            <a:endParaRPr lang="en-US" sz="1150" dirty="0"/>
          </a:p>
        </p:txBody>
      </p:sp>
      <p:sp>
        <p:nvSpPr>
          <p:cNvPr id="8" name="Shape 6"/>
          <p:cNvSpPr/>
          <p:nvPr/>
        </p:nvSpPr>
        <p:spPr>
          <a:xfrm>
            <a:off x="3346704" y="2084832"/>
            <a:ext cx="530352" cy="201168"/>
          </a:xfrm>
          <a:prstGeom prst="roundRect">
            <a:avLst>
              <a:gd name="adj" fmla="val 45455"/>
            </a:avLst>
          </a:prstGeom>
          <a:solidFill>
            <a:srgbClr val="000050"/>
          </a:solidFill>
          <a:ln w="12700">
            <a:solidFill>
              <a:srgbClr val="000050"/>
            </a:solidFill>
            <a:prstDash val="solid"/>
          </a:ln>
        </p:spPr>
      </p:sp>
      <p:sp>
        <p:nvSpPr>
          <p:cNvPr id="9" name="Text 7"/>
          <p:cNvSpPr txBox="1"/>
          <p:nvPr/>
        </p:nvSpPr>
        <p:spPr>
          <a:xfrm>
            <a:off x="3346704" y="2075688"/>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10" name="Text 8"/>
          <p:cNvSpPr txBox="1"/>
          <p:nvPr/>
        </p:nvSpPr>
        <p:spPr>
          <a:xfrm>
            <a:off x="804672" y="2468880"/>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Assurance dashboard (Power BI)</a:t>
            </a:r>
            <a:endParaRPr lang="en-US" sz="1150" dirty="0"/>
          </a:p>
        </p:txBody>
      </p:sp>
      <p:sp>
        <p:nvSpPr>
          <p:cNvPr id="11" name="Shape 9"/>
          <p:cNvSpPr/>
          <p:nvPr/>
        </p:nvSpPr>
        <p:spPr>
          <a:xfrm>
            <a:off x="3346704" y="2505456"/>
            <a:ext cx="530352" cy="201168"/>
          </a:xfrm>
          <a:prstGeom prst="roundRect">
            <a:avLst>
              <a:gd name="adj" fmla="val 45455"/>
            </a:avLst>
          </a:prstGeom>
          <a:solidFill>
            <a:srgbClr val="000050"/>
          </a:solidFill>
          <a:ln w="12700">
            <a:solidFill>
              <a:srgbClr val="000050"/>
            </a:solidFill>
            <a:prstDash val="solid"/>
          </a:ln>
        </p:spPr>
      </p:sp>
      <p:sp>
        <p:nvSpPr>
          <p:cNvPr id="12" name="Text 10"/>
          <p:cNvSpPr txBox="1"/>
          <p:nvPr/>
        </p:nvSpPr>
        <p:spPr>
          <a:xfrm>
            <a:off x="3346704" y="2496312"/>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13" name="Text 11"/>
          <p:cNvSpPr txBox="1"/>
          <p:nvPr/>
        </p:nvSpPr>
        <p:spPr>
          <a:xfrm>
            <a:off x="804672" y="2889504"/>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ATHEER bot — ask the manual</a:t>
            </a:r>
            <a:endParaRPr lang="en-US" sz="1150" dirty="0"/>
          </a:p>
        </p:txBody>
      </p:sp>
      <p:sp>
        <p:nvSpPr>
          <p:cNvPr id="14" name="Shape 12"/>
          <p:cNvSpPr/>
          <p:nvPr/>
        </p:nvSpPr>
        <p:spPr>
          <a:xfrm>
            <a:off x="3346704" y="2926080"/>
            <a:ext cx="530352" cy="201168"/>
          </a:xfrm>
          <a:prstGeom prst="roundRect">
            <a:avLst>
              <a:gd name="adj" fmla="val 45455"/>
            </a:avLst>
          </a:prstGeom>
          <a:solidFill>
            <a:srgbClr val="000050"/>
          </a:solidFill>
          <a:ln w="12700">
            <a:solidFill>
              <a:srgbClr val="000050"/>
            </a:solidFill>
            <a:prstDash val="solid"/>
          </a:ln>
        </p:spPr>
      </p:sp>
      <p:sp>
        <p:nvSpPr>
          <p:cNvPr id="15" name="Text 13"/>
          <p:cNvSpPr txBox="1"/>
          <p:nvPr/>
        </p:nvSpPr>
        <p:spPr>
          <a:xfrm>
            <a:off x="3346704" y="2916936"/>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16" name="Text 14"/>
          <p:cNvSpPr txBox="1"/>
          <p:nvPr/>
        </p:nvSpPr>
        <p:spPr>
          <a:xfrm>
            <a:off x="804672" y="3310128"/>
            <a:ext cx="2487168" cy="384048"/>
          </a:xfrm>
          <a:prstGeom prst="rect">
            <a:avLst/>
          </a:prstGeom>
          <a:noFill/>
          <a:ln/>
        </p:spPr>
        <p:txBody>
          <a:bodyPr wrap="square" lIns="0" tIns="0" rIns="0" bIns="0" rtlCol="0" anchor="ctr"/>
          <a:lstStyle/>
          <a:p>
            <a:pPr indent="0" marL="0">
              <a:lnSpc>
                <a:spcPts val="1400"/>
              </a:lnSpc>
              <a:buNone/>
            </a:pPr>
            <a:r>
              <a:rPr lang="en-US" sz="1150" dirty="0">
                <a:solidFill>
                  <a:srgbClr val="4D5680"/>
                </a:solidFill>
                <a:latin typeface="Calibri" pitchFamily="34" charset="0"/>
                <a:ea typeface="Calibri" pitchFamily="34" charset="-122"/>
                <a:cs typeface="Calibri" pitchFamily="34" charset="-120"/>
              </a:rPr>
              <a:t>Audit Analytics &amp; Innovation requests</a:t>
            </a:r>
            <a:endParaRPr lang="en-US" sz="1150" dirty="0"/>
          </a:p>
        </p:txBody>
      </p:sp>
      <p:sp>
        <p:nvSpPr>
          <p:cNvPr id="17" name="Shape 15"/>
          <p:cNvSpPr/>
          <p:nvPr/>
        </p:nvSpPr>
        <p:spPr>
          <a:xfrm>
            <a:off x="3346704" y="3346704"/>
            <a:ext cx="530352" cy="201168"/>
          </a:xfrm>
          <a:prstGeom prst="roundRect">
            <a:avLst>
              <a:gd name="adj" fmla="val 45455"/>
            </a:avLst>
          </a:prstGeom>
          <a:solidFill>
            <a:srgbClr val="E6EAF5"/>
          </a:solidFill>
          <a:ln w="12700">
            <a:solidFill>
              <a:srgbClr val="E6EAF5"/>
            </a:solidFill>
            <a:prstDash val="solid"/>
          </a:ln>
        </p:spPr>
      </p:sp>
      <p:sp>
        <p:nvSpPr>
          <p:cNvPr id="18" name="Text 16"/>
          <p:cNvSpPr txBox="1"/>
          <p:nvPr/>
        </p:nvSpPr>
        <p:spPr>
          <a:xfrm>
            <a:off x="3346704" y="3337560"/>
            <a:ext cx="530352" cy="210312"/>
          </a:xfrm>
          <a:prstGeom prst="rect">
            <a:avLst/>
          </a:prstGeom>
          <a:noFill/>
          <a:ln/>
        </p:spPr>
        <p:txBody>
          <a:bodyPr wrap="square" lIns="0" tIns="0" rIns="0" bIns="0" rtlCol="0" anchor="ctr"/>
          <a:lstStyle/>
          <a:p>
            <a:pPr algn="ctr" indent="0" marL="0">
              <a:buNone/>
            </a:pPr>
            <a:r>
              <a:rPr lang="en-US" sz="750" b="1" spc="60" kern="0" dirty="0">
                <a:solidFill>
                  <a:srgbClr val="7A86A8"/>
                </a:solidFill>
                <a:latin typeface="Arial" pitchFamily="34" charset="0"/>
                <a:ea typeface="Arial" pitchFamily="34" charset="-122"/>
                <a:cs typeface="Arial" pitchFamily="34" charset="-120"/>
              </a:rPr>
              <a:t>KEPT</a:t>
            </a:r>
            <a:endParaRPr lang="en-US" sz="750" dirty="0"/>
          </a:p>
        </p:txBody>
      </p:sp>
      <p:sp>
        <p:nvSpPr>
          <p:cNvPr id="19" name="Text 17"/>
          <p:cNvSpPr txBox="1"/>
          <p:nvPr/>
        </p:nvSpPr>
        <p:spPr>
          <a:xfrm>
            <a:off x="804672" y="3730752"/>
            <a:ext cx="2487168" cy="384048"/>
          </a:xfrm>
          <a:prstGeom prst="rect">
            <a:avLst/>
          </a:prstGeom>
          <a:noFill/>
          <a:ln/>
        </p:spPr>
        <p:txBody>
          <a:bodyPr wrap="square" lIns="0" tIns="0" rIns="0" bIns="0" rtlCol="0" anchor="ctr"/>
          <a:lstStyle/>
          <a:p>
            <a:pPr indent="0" marL="0">
              <a:lnSpc>
                <a:spcPts val="1400"/>
              </a:lnSpc>
              <a:buNone/>
            </a:pPr>
            <a:r>
              <a:rPr lang="en-US" sz="1150" dirty="0">
                <a:solidFill>
                  <a:srgbClr val="4D5680"/>
                </a:solidFill>
                <a:latin typeface="Calibri" pitchFamily="34" charset="0"/>
                <a:ea typeface="Calibri" pitchFamily="34" charset="-122"/>
                <a:cs typeface="Calibri" pitchFamily="34" charset="-120"/>
              </a:rPr>
              <a:t>IA Document Library</a:t>
            </a:r>
            <a:endParaRPr lang="en-US" sz="1150" dirty="0"/>
          </a:p>
        </p:txBody>
      </p:sp>
      <p:sp>
        <p:nvSpPr>
          <p:cNvPr id="20" name="Shape 18"/>
          <p:cNvSpPr/>
          <p:nvPr/>
        </p:nvSpPr>
        <p:spPr>
          <a:xfrm>
            <a:off x="3346704" y="3767328"/>
            <a:ext cx="530352" cy="201168"/>
          </a:xfrm>
          <a:prstGeom prst="roundRect">
            <a:avLst>
              <a:gd name="adj" fmla="val 45455"/>
            </a:avLst>
          </a:prstGeom>
          <a:solidFill>
            <a:srgbClr val="E6EAF5"/>
          </a:solidFill>
          <a:ln w="12700">
            <a:solidFill>
              <a:srgbClr val="E6EAF5"/>
            </a:solidFill>
            <a:prstDash val="solid"/>
          </a:ln>
        </p:spPr>
      </p:sp>
      <p:sp>
        <p:nvSpPr>
          <p:cNvPr id="21" name="Text 19"/>
          <p:cNvSpPr txBox="1"/>
          <p:nvPr/>
        </p:nvSpPr>
        <p:spPr>
          <a:xfrm>
            <a:off x="3346704" y="3758184"/>
            <a:ext cx="530352" cy="210312"/>
          </a:xfrm>
          <a:prstGeom prst="rect">
            <a:avLst/>
          </a:prstGeom>
          <a:noFill/>
          <a:ln/>
        </p:spPr>
        <p:txBody>
          <a:bodyPr wrap="square" lIns="0" tIns="0" rIns="0" bIns="0" rtlCol="0" anchor="ctr"/>
          <a:lstStyle/>
          <a:p>
            <a:pPr algn="ctr" indent="0" marL="0">
              <a:buNone/>
            </a:pPr>
            <a:r>
              <a:rPr lang="en-US" sz="750" b="1" spc="60" kern="0" dirty="0">
                <a:solidFill>
                  <a:srgbClr val="7A86A8"/>
                </a:solidFill>
                <a:latin typeface="Arial" pitchFamily="34" charset="0"/>
                <a:ea typeface="Arial" pitchFamily="34" charset="-122"/>
                <a:cs typeface="Arial" pitchFamily="34" charset="-120"/>
              </a:rPr>
              <a:t>KEPT</a:t>
            </a:r>
            <a:endParaRPr lang="en-US" sz="750" dirty="0"/>
          </a:p>
        </p:txBody>
      </p:sp>
      <p:sp>
        <p:nvSpPr>
          <p:cNvPr id="22" name="Text 20"/>
          <p:cNvSpPr txBox="1"/>
          <p:nvPr/>
        </p:nvSpPr>
        <p:spPr>
          <a:xfrm>
            <a:off x="804672" y="4151376"/>
            <a:ext cx="2487168" cy="384048"/>
          </a:xfrm>
          <a:prstGeom prst="rect">
            <a:avLst/>
          </a:prstGeom>
          <a:noFill/>
          <a:ln/>
        </p:spPr>
        <p:txBody>
          <a:bodyPr wrap="square" lIns="0" tIns="0" rIns="0" bIns="0" rtlCol="0" anchor="ctr"/>
          <a:lstStyle/>
          <a:p>
            <a:pPr indent="0" marL="0">
              <a:lnSpc>
                <a:spcPts val="1400"/>
              </a:lnSpc>
              <a:buNone/>
            </a:pPr>
            <a:r>
              <a:rPr lang="en-US" sz="1150" dirty="0">
                <a:solidFill>
                  <a:srgbClr val="4D5680"/>
                </a:solidFill>
                <a:latin typeface="Calibri" pitchFamily="34" charset="0"/>
                <a:ea typeface="Calibri" pitchFamily="34" charset="-122"/>
                <a:cs typeface="Calibri" pitchFamily="34" charset="-120"/>
              </a:rPr>
              <a:t>IA Vacation Plan</a:t>
            </a:r>
            <a:endParaRPr lang="en-US" sz="1150" dirty="0"/>
          </a:p>
        </p:txBody>
      </p:sp>
      <p:sp>
        <p:nvSpPr>
          <p:cNvPr id="23" name="Shape 21"/>
          <p:cNvSpPr/>
          <p:nvPr/>
        </p:nvSpPr>
        <p:spPr>
          <a:xfrm>
            <a:off x="3346704" y="4187952"/>
            <a:ext cx="530352" cy="201168"/>
          </a:xfrm>
          <a:prstGeom prst="roundRect">
            <a:avLst>
              <a:gd name="adj" fmla="val 45455"/>
            </a:avLst>
          </a:prstGeom>
          <a:solidFill>
            <a:srgbClr val="E6EAF5"/>
          </a:solidFill>
          <a:ln w="12700">
            <a:solidFill>
              <a:srgbClr val="E6EAF5"/>
            </a:solidFill>
            <a:prstDash val="solid"/>
          </a:ln>
        </p:spPr>
      </p:sp>
      <p:sp>
        <p:nvSpPr>
          <p:cNvPr id="24" name="Text 22"/>
          <p:cNvSpPr txBox="1"/>
          <p:nvPr/>
        </p:nvSpPr>
        <p:spPr>
          <a:xfrm>
            <a:off x="3346704" y="4178808"/>
            <a:ext cx="530352" cy="210312"/>
          </a:xfrm>
          <a:prstGeom prst="rect">
            <a:avLst/>
          </a:prstGeom>
          <a:noFill/>
          <a:ln/>
        </p:spPr>
        <p:txBody>
          <a:bodyPr wrap="square" lIns="0" tIns="0" rIns="0" bIns="0" rtlCol="0" anchor="ctr"/>
          <a:lstStyle/>
          <a:p>
            <a:pPr algn="ctr" indent="0" marL="0">
              <a:buNone/>
            </a:pPr>
            <a:r>
              <a:rPr lang="en-US" sz="750" b="1" spc="60" kern="0" dirty="0">
                <a:solidFill>
                  <a:srgbClr val="7A86A8"/>
                </a:solidFill>
                <a:latin typeface="Arial" pitchFamily="34" charset="0"/>
                <a:ea typeface="Arial" pitchFamily="34" charset="-122"/>
                <a:cs typeface="Arial" pitchFamily="34" charset="-120"/>
              </a:rPr>
              <a:t>KEPT</a:t>
            </a:r>
            <a:endParaRPr lang="en-US" sz="750" dirty="0"/>
          </a:p>
        </p:txBody>
      </p:sp>
      <p:sp>
        <p:nvSpPr>
          <p:cNvPr id="25" name="Text 23"/>
          <p:cNvSpPr txBox="1"/>
          <p:nvPr/>
        </p:nvSpPr>
        <p:spPr>
          <a:xfrm>
            <a:off x="804672" y="4572000"/>
            <a:ext cx="2487168" cy="384048"/>
          </a:xfrm>
          <a:prstGeom prst="rect">
            <a:avLst/>
          </a:prstGeom>
          <a:noFill/>
          <a:ln/>
        </p:spPr>
        <p:txBody>
          <a:bodyPr wrap="square" lIns="0" tIns="0" rIns="0" bIns="0" rtlCol="0" anchor="ctr"/>
          <a:lstStyle/>
          <a:p>
            <a:pPr indent="0" marL="0">
              <a:lnSpc>
                <a:spcPts val="1400"/>
              </a:lnSpc>
              <a:buNone/>
            </a:pPr>
            <a:r>
              <a:rPr lang="en-US" sz="1150" dirty="0">
                <a:solidFill>
                  <a:srgbClr val="4D5680"/>
                </a:solidFill>
                <a:latin typeface="Calibri" pitchFamily="34" charset="0"/>
                <a:ea typeface="Calibri" pitchFamily="34" charset="-122"/>
                <a:cs typeface="Calibri" pitchFamily="34" charset="-120"/>
              </a:rPr>
              <a:t>Mentorship Programme</a:t>
            </a:r>
            <a:endParaRPr lang="en-US" sz="1150" dirty="0"/>
          </a:p>
        </p:txBody>
      </p:sp>
      <p:sp>
        <p:nvSpPr>
          <p:cNvPr id="26" name="Shape 24"/>
          <p:cNvSpPr/>
          <p:nvPr/>
        </p:nvSpPr>
        <p:spPr>
          <a:xfrm>
            <a:off x="3346704" y="4608576"/>
            <a:ext cx="530352" cy="201168"/>
          </a:xfrm>
          <a:prstGeom prst="roundRect">
            <a:avLst>
              <a:gd name="adj" fmla="val 45455"/>
            </a:avLst>
          </a:prstGeom>
          <a:solidFill>
            <a:srgbClr val="E6EAF5"/>
          </a:solidFill>
          <a:ln w="12700">
            <a:solidFill>
              <a:srgbClr val="E6EAF5"/>
            </a:solidFill>
            <a:prstDash val="solid"/>
          </a:ln>
        </p:spPr>
      </p:sp>
      <p:sp>
        <p:nvSpPr>
          <p:cNvPr id="27" name="Text 25"/>
          <p:cNvSpPr txBox="1"/>
          <p:nvPr/>
        </p:nvSpPr>
        <p:spPr>
          <a:xfrm>
            <a:off x="3346704" y="4599432"/>
            <a:ext cx="530352" cy="210312"/>
          </a:xfrm>
          <a:prstGeom prst="rect">
            <a:avLst/>
          </a:prstGeom>
          <a:noFill/>
          <a:ln/>
        </p:spPr>
        <p:txBody>
          <a:bodyPr wrap="square" lIns="0" tIns="0" rIns="0" bIns="0" rtlCol="0" anchor="ctr"/>
          <a:lstStyle/>
          <a:p>
            <a:pPr algn="ctr" indent="0" marL="0">
              <a:buNone/>
            </a:pPr>
            <a:r>
              <a:rPr lang="en-US" sz="750" b="1" spc="60" kern="0" dirty="0">
                <a:solidFill>
                  <a:srgbClr val="7A86A8"/>
                </a:solidFill>
                <a:latin typeface="Arial" pitchFamily="34" charset="0"/>
                <a:ea typeface="Arial" pitchFamily="34" charset="-122"/>
                <a:cs typeface="Arial" pitchFamily="34" charset="-120"/>
              </a:rPr>
              <a:t>KEPT</a:t>
            </a:r>
            <a:endParaRPr lang="en-US" sz="750" dirty="0"/>
          </a:p>
        </p:txBody>
      </p:sp>
      <p:sp>
        <p:nvSpPr>
          <p:cNvPr id="28" name="Shape 26"/>
          <p:cNvSpPr/>
          <p:nvPr/>
        </p:nvSpPr>
        <p:spPr>
          <a:xfrm>
            <a:off x="4306824" y="1389888"/>
            <a:ext cx="3566160" cy="3611880"/>
          </a:xfrm>
          <a:prstGeom prst="roundRect">
            <a:avLst>
              <a:gd name="adj" fmla="val 1282"/>
            </a:avLst>
          </a:prstGeom>
          <a:solidFill>
            <a:srgbClr val="F4F7FF"/>
          </a:solidFill>
          <a:ln w="12700">
            <a:solidFill>
              <a:srgbClr val="DDE8FF"/>
            </a:solidFill>
            <a:prstDash val="solid"/>
          </a:ln>
          <a:effectLst>
            <a:outerShdw sx="100000" sy="100000" kx="0" ky="0" algn="bl" rotWithShape="0" blurRad="203200" dist="38100" dir="5400000">
              <a:srgbClr val="101540">
                <a:alpha val="12000"/>
              </a:srgbClr>
            </a:outerShdw>
          </a:effectLst>
        </p:spPr>
      </p:sp>
      <p:sp>
        <p:nvSpPr>
          <p:cNvPr id="29" name="Shape 27"/>
          <p:cNvSpPr/>
          <p:nvPr/>
        </p:nvSpPr>
        <p:spPr>
          <a:xfrm>
            <a:off x="4562856" y="1627632"/>
            <a:ext cx="274320" cy="274320"/>
          </a:xfrm>
          <a:prstGeom prst="roundRect">
            <a:avLst>
              <a:gd name="adj" fmla="val 23333"/>
            </a:avLst>
          </a:prstGeom>
          <a:solidFill>
            <a:srgbClr val="8F4FD8"/>
          </a:solidFill>
          <a:ln w="12700">
            <a:solidFill>
              <a:srgbClr val="8F4FD8"/>
            </a:solidFill>
            <a:prstDash val="solid"/>
          </a:ln>
        </p:spPr>
      </p:sp>
      <p:sp>
        <p:nvSpPr>
          <p:cNvPr id="30" name="Text 28"/>
          <p:cNvSpPr txBox="1"/>
          <p:nvPr/>
        </p:nvSpPr>
        <p:spPr>
          <a:xfrm>
            <a:off x="4946904" y="1609344"/>
            <a:ext cx="2743200" cy="310896"/>
          </a:xfrm>
          <a:prstGeom prst="rect">
            <a:avLst/>
          </a:prstGeom>
          <a:noFill/>
          <a:ln/>
        </p:spPr>
        <p:txBody>
          <a:bodyPr wrap="square" lIns="0" tIns="0" rIns="0" bIns="0" rtlCol="0" anchor="ctr"/>
          <a:lstStyle/>
          <a:p>
            <a:pPr indent="0" marL="0">
              <a:buNone/>
            </a:pPr>
            <a:r>
              <a:rPr lang="en-US" sz="1500" b="1" dirty="0">
                <a:solidFill>
                  <a:srgbClr val="101540"/>
                </a:solidFill>
                <a:latin typeface="Arial" pitchFamily="34" charset="0"/>
                <a:ea typeface="Arial" pitchFamily="34" charset="-122"/>
                <a:cs typeface="Arial" pitchFamily="34" charset="-120"/>
              </a:rPr>
              <a:t>People &amp; culture</a:t>
            </a:r>
            <a:endParaRPr lang="en-US" sz="1500" dirty="0"/>
          </a:p>
        </p:txBody>
      </p:sp>
      <p:sp>
        <p:nvSpPr>
          <p:cNvPr id="31" name="Text 29"/>
          <p:cNvSpPr txBox="1"/>
          <p:nvPr/>
        </p:nvSpPr>
        <p:spPr>
          <a:xfrm>
            <a:off x="4562856" y="2048256"/>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Our team page — who to ask</a:t>
            </a:r>
            <a:endParaRPr lang="en-US" sz="1150" dirty="0"/>
          </a:p>
        </p:txBody>
      </p:sp>
      <p:sp>
        <p:nvSpPr>
          <p:cNvPr id="32" name="Shape 30"/>
          <p:cNvSpPr/>
          <p:nvPr/>
        </p:nvSpPr>
        <p:spPr>
          <a:xfrm>
            <a:off x="7104888" y="2084832"/>
            <a:ext cx="530352" cy="201168"/>
          </a:xfrm>
          <a:prstGeom prst="roundRect">
            <a:avLst>
              <a:gd name="adj" fmla="val 45455"/>
            </a:avLst>
          </a:prstGeom>
          <a:solidFill>
            <a:srgbClr val="000050"/>
          </a:solidFill>
          <a:ln w="12700">
            <a:solidFill>
              <a:srgbClr val="000050"/>
            </a:solidFill>
            <a:prstDash val="solid"/>
          </a:ln>
        </p:spPr>
      </p:sp>
      <p:sp>
        <p:nvSpPr>
          <p:cNvPr id="33" name="Text 31"/>
          <p:cNvSpPr txBox="1"/>
          <p:nvPr/>
        </p:nvSpPr>
        <p:spPr>
          <a:xfrm>
            <a:off x="7104888" y="2075688"/>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34" name="Text 32"/>
          <p:cNvSpPr txBox="1"/>
          <p:nvPr/>
        </p:nvSpPr>
        <p:spPr>
          <a:xfrm>
            <a:off x="4562856" y="2468880"/>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Breakfast fund board</a:t>
            </a:r>
            <a:endParaRPr lang="en-US" sz="1150" dirty="0"/>
          </a:p>
        </p:txBody>
      </p:sp>
      <p:sp>
        <p:nvSpPr>
          <p:cNvPr id="35" name="Shape 33"/>
          <p:cNvSpPr/>
          <p:nvPr/>
        </p:nvSpPr>
        <p:spPr>
          <a:xfrm>
            <a:off x="7104888" y="2505456"/>
            <a:ext cx="530352" cy="201168"/>
          </a:xfrm>
          <a:prstGeom prst="roundRect">
            <a:avLst>
              <a:gd name="adj" fmla="val 45455"/>
            </a:avLst>
          </a:prstGeom>
          <a:solidFill>
            <a:srgbClr val="000050"/>
          </a:solidFill>
          <a:ln w="12700">
            <a:solidFill>
              <a:srgbClr val="000050"/>
            </a:solidFill>
            <a:prstDash val="solid"/>
          </a:ln>
        </p:spPr>
      </p:sp>
      <p:sp>
        <p:nvSpPr>
          <p:cNvPr id="36" name="Text 34"/>
          <p:cNvSpPr txBox="1"/>
          <p:nvPr/>
        </p:nvSpPr>
        <p:spPr>
          <a:xfrm>
            <a:off x="7104888" y="2496312"/>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37" name="Text 35"/>
          <p:cNvSpPr txBox="1"/>
          <p:nvPr/>
        </p:nvSpPr>
        <p:spPr>
          <a:xfrm>
            <a:off x="4562856" y="2889504"/>
            <a:ext cx="2487168" cy="384048"/>
          </a:xfrm>
          <a:prstGeom prst="rect">
            <a:avLst/>
          </a:prstGeom>
          <a:noFill/>
          <a:ln/>
        </p:spPr>
        <p:txBody>
          <a:bodyPr wrap="square" lIns="0" tIns="0" rIns="0" bIns="0" rtlCol="0" anchor="ctr"/>
          <a:lstStyle/>
          <a:p>
            <a:pPr indent="0" marL="0">
              <a:lnSpc>
                <a:spcPts val="1400"/>
              </a:lnSpc>
              <a:buNone/>
            </a:pPr>
            <a:r>
              <a:rPr lang="en-US" sz="1150" dirty="0">
                <a:solidFill>
                  <a:srgbClr val="4D5680"/>
                </a:solidFill>
                <a:latin typeface="Calibri" pitchFamily="34" charset="0"/>
                <a:ea typeface="Calibri" pitchFamily="34" charset="-122"/>
                <a:cs typeface="Calibri" pitchFamily="34" charset="-120"/>
              </a:rPr>
              <a:t>News &amp; announcements</a:t>
            </a:r>
            <a:endParaRPr lang="en-US" sz="1150" dirty="0"/>
          </a:p>
        </p:txBody>
      </p:sp>
      <p:sp>
        <p:nvSpPr>
          <p:cNvPr id="38" name="Shape 36"/>
          <p:cNvSpPr/>
          <p:nvPr/>
        </p:nvSpPr>
        <p:spPr>
          <a:xfrm>
            <a:off x="7104888" y="2926080"/>
            <a:ext cx="530352" cy="201168"/>
          </a:xfrm>
          <a:prstGeom prst="roundRect">
            <a:avLst>
              <a:gd name="adj" fmla="val 45455"/>
            </a:avLst>
          </a:prstGeom>
          <a:solidFill>
            <a:srgbClr val="E6EAF5"/>
          </a:solidFill>
          <a:ln w="12700">
            <a:solidFill>
              <a:srgbClr val="E6EAF5"/>
            </a:solidFill>
            <a:prstDash val="solid"/>
          </a:ln>
        </p:spPr>
      </p:sp>
      <p:sp>
        <p:nvSpPr>
          <p:cNvPr id="39" name="Text 37"/>
          <p:cNvSpPr txBox="1"/>
          <p:nvPr/>
        </p:nvSpPr>
        <p:spPr>
          <a:xfrm>
            <a:off x="7104888" y="2916936"/>
            <a:ext cx="530352" cy="210312"/>
          </a:xfrm>
          <a:prstGeom prst="rect">
            <a:avLst/>
          </a:prstGeom>
          <a:noFill/>
          <a:ln/>
        </p:spPr>
        <p:txBody>
          <a:bodyPr wrap="square" lIns="0" tIns="0" rIns="0" bIns="0" rtlCol="0" anchor="ctr"/>
          <a:lstStyle/>
          <a:p>
            <a:pPr algn="ctr" indent="0" marL="0">
              <a:buNone/>
            </a:pPr>
            <a:r>
              <a:rPr lang="en-US" sz="750" b="1" spc="60" kern="0" dirty="0">
                <a:solidFill>
                  <a:srgbClr val="7A86A8"/>
                </a:solidFill>
                <a:latin typeface="Arial" pitchFamily="34" charset="0"/>
                <a:ea typeface="Arial" pitchFamily="34" charset="-122"/>
                <a:cs typeface="Arial" pitchFamily="34" charset="-120"/>
              </a:rPr>
              <a:t>KEPT</a:t>
            </a:r>
            <a:endParaRPr lang="en-US" sz="750" dirty="0"/>
          </a:p>
        </p:txBody>
      </p:sp>
      <p:sp>
        <p:nvSpPr>
          <p:cNvPr id="40" name="Text 38"/>
          <p:cNvSpPr txBox="1"/>
          <p:nvPr/>
        </p:nvSpPr>
        <p:spPr>
          <a:xfrm>
            <a:off x="4562856" y="3310128"/>
            <a:ext cx="2487168" cy="384048"/>
          </a:xfrm>
          <a:prstGeom prst="rect">
            <a:avLst/>
          </a:prstGeom>
          <a:noFill/>
          <a:ln/>
        </p:spPr>
        <p:txBody>
          <a:bodyPr wrap="square" lIns="0" tIns="0" rIns="0" bIns="0" rtlCol="0" anchor="ctr"/>
          <a:lstStyle/>
          <a:p>
            <a:pPr indent="0" marL="0">
              <a:lnSpc>
                <a:spcPts val="1400"/>
              </a:lnSpc>
              <a:buNone/>
            </a:pPr>
            <a:r>
              <a:rPr lang="en-US" sz="1150" dirty="0">
                <a:solidFill>
                  <a:srgbClr val="4D5680"/>
                </a:solidFill>
                <a:latin typeface="Calibri" pitchFamily="34" charset="0"/>
                <a:ea typeface="Calibri" pitchFamily="34" charset="-122"/>
                <a:cs typeface="Calibri" pitchFamily="34" charset="-120"/>
              </a:rPr>
              <a:t>Team birthday calendar</a:t>
            </a:r>
            <a:endParaRPr lang="en-US" sz="1150" dirty="0"/>
          </a:p>
        </p:txBody>
      </p:sp>
      <p:sp>
        <p:nvSpPr>
          <p:cNvPr id="41" name="Shape 39"/>
          <p:cNvSpPr/>
          <p:nvPr/>
        </p:nvSpPr>
        <p:spPr>
          <a:xfrm>
            <a:off x="7104888" y="3346704"/>
            <a:ext cx="530352" cy="201168"/>
          </a:xfrm>
          <a:prstGeom prst="roundRect">
            <a:avLst>
              <a:gd name="adj" fmla="val 45455"/>
            </a:avLst>
          </a:prstGeom>
          <a:solidFill>
            <a:srgbClr val="E6EAF5"/>
          </a:solidFill>
          <a:ln w="12700">
            <a:solidFill>
              <a:srgbClr val="E6EAF5"/>
            </a:solidFill>
            <a:prstDash val="solid"/>
          </a:ln>
        </p:spPr>
      </p:sp>
      <p:sp>
        <p:nvSpPr>
          <p:cNvPr id="42" name="Text 40"/>
          <p:cNvSpPr txBox="1"/>
          <p:nvPr/>
        </p:nvSpPr>
        <p:spPr>
          <a:xfrm>
            <a:off x="7104888" y="3337560"/>
            <a:ext cx="530352" cy="210312"/>
          </a:xfrm>
          <a:prstGeom prst="rect">
            <a:avLst/>
          </a:prstGeom>
          <a:noFill/>
          <a:ln/>
        </p:spPr>
        <p:txBody>
          <a:bodyPr wrap="square" lIns="0" tIns="0" rIns="0" bIns="0" rtlCol="0" anchor="ctr"/>
          <a:lstStyle/>
          <a:p>
            <a:pPr algn="ctr" indent="0" marL="0">
              <a:buNone/>
            </a:pPr>
            <a:r>
              <a:rPr lang="en-US" sz="750" b="1" spc="60" kern="0" dirty="0">
                <a:solidFill>
                  <a:srgbClr val="7A86A8"/>
                </a:solidFill>
                <a:latin typeface="Arial" pitchFamily="34" charset="0"/>
                <a:ea typeface="Arial" pitchFamily="34" charset="-122"/>
                <a:cs typeface="Arial" pitchFamily="34" charset="-120"/>
              </a:rPr>
              <a:t>KEPT</a:t>
            </a:r>
            <a:endParaRPr lang="en-US" sz="750" dirty="0"/>
          </a:p>
        </p:txBody>
      </p:sp>
      <p:sp>
        <p:nvSpPr>
          <p:cNvPr id="43" name="Text 41"/>
          <p:cNvSpPr txBox="1"/>
          <p:nvPr/>
        </p:nvSpPr>
        <p:spPr>
          <a:xfrm>
            <a:off x="4562856" y="3730752"/>
            <a:ext cx="2487168" cy="384048"/>
          </a:xfrm>
          <a:prstGeom prst="rect">
            <a:avLst/>
          </a:prstGeom>
          <a:noFill/>
          <a:ln/>
        </p:spPr>
        <p:txBody>
          <a:bodyPr wrap="square" lIns="0" tIns="0" rIns="0" bIns="0" rtlCol="0" anchor="ctr"/>
          <a:lstStyle/>
          <a:p>
            <a:pPr indent="0" marL="0">
              <a:lnSpc>
                <a:spcPts val="1400"/>
              </a:lnSpc>
              <a:buNone/>
            </a:pPr>
            <a:r>
              <a:rPr lang="en-US" sz="1150" dirty="0">
                <a:solidFill>
                  <a:srgbClr val="4D5680"/>
                </a:solidFill>
                <a:latin typeface="Calibri" pitchFamily="34" charset="0"/>
                <a:ea typeface="Calibri" pitchFamily="34" charset="-122"/>
                <a:cs typeface="Calibri" pitchFamily="34" charset="-120"/>
              </a:rPr>
              <a:t>IdeIA initiative form</a:t>
            </a:r>
            <a:endParaRPr lang="en-US" sz="1150" dirty="0"/>
          </a:p>
        </p:txBody>
      </p:sp>
      <p:sp>
        <p:nvSpPr>
          <p:cNvPr id="44" name="Shape 42"/>
          <p:cNvSpPr/>
          <p:nvPr/>
        </p:nvSpPr>
        <p:spPr>
          <a:xfrm>
            <a:off x="7104888" y="3767328"/>
            <a:ext cx="530352" cy="201168"/>
          </a:xfrm>
          <a:prstGeom prst="roundRect">
            <a:avLst>
              <a:gd name="adj" fmla="val 45455"/>
            </a:avLst>
          </a:prstGeom>
          <a:solidFill>
            <a:srgbClr val="E6EAF5"/>
          </a:solidFill>
          <a:ln w="12700">
            <a:solidFill>
              <a:srgbClr val="E6EAF5"/>
            </a:solidFill>
            <a:prstDash val="solid"/>
          </a:ln>
        </p:spPr>
      </p:sp>
      <p:sp>
        <p:nvSpPr>
          <p:cNvPr id="45" name="Text 43"/>
          <p:cNvSpPr txBox="1"/>
          <p:nvPr/>
        </p:nvSpPr>
        <p:spPr>
          <a:xfrm>
            <a:off x="7104888" y="3758184"/>
            <a:ext cx="530352" cy="210312"/>
          </a:xfrm>
          <a:prstGeom prst="rect">
            <a:avLst/>
          </a:prstGeom>
          <a:noFill/>
          <a:ln/>
        </p:spPr>
        <p:txBody>
          <a:bodyPr wrap="square" lIns="0" tIns="0" rIns="0" bIns="0" rtlCol="0" anchor="ctr"/>
          <a:lstStyle/>
          <a:p>
            <a:pPr algn="ctr" indent="0" marL="0">
              <a:buNone/>
            </a:pPr>
            <a:r>
              <a:rPr lang="en-US" sz="750" b="1" spc="60" kern="0" dirty="0">
                <a:solidFill>
                  <a:srgbClr val="7A86A8"/>
                </a:solidFill>
                <a:latin typeface="Arial" pitchFamily="34" charset="0"/>
                <a:ea typeface="Arial" pitchFamily="34" charset="-122"/>
                <a:cs typeface="Arial" pitchFamily="34" charset="-120"/>
              </a:rPr>
              <a:t>KEPT</a:t>
            </a:r>
            <a:endParaRPr lang="en-US" sz="750" dirty="0"/>
          </a:p>
        </p:txBody>
      </p:sp>
      <p:sp>
        <p:nvSpPr>
          <p:cNvPr id="46" name="Text 44"/>
          <p:cNvSpPr txBox="1"/>
          <p:nvPr/>
        </p:nvSpPr>
        <p:spPr>
          <a:xfrm>
            <a:off x="4562856" y="4151376"/>
            <a:ext cx="2487168" cy="384048"/>
          </a:xfrm>
          <a:prstGeom prst="rect">
            <a:avLst/>
          </a:prstGeom>
          <a:noFill/>
          <a:ln/>
        </p:spPr>
        <p:txBody>
          <a:bodyPr wrap="square" lIns="0" tIns="0" rIns="0" bIns="0" rtlCol="0" anchor="ctr"/>
          <a:lstStyle/>
          <a:p>
            <a:pPr indent="0" marL="0">
              <a:lnSpc>
                <a:spcPts val="1400"/>
              </a:lnSpc>
              <a:buNone/>
            </a:pPr>
            <a:r>
              <a:rPr lang="en-US" sz="1150" dirty="0">
                <a:solidFill>
                  <a:srgbClr val="4D5680"/>
                </a:solidFill>
                <a:latin typeface="Calibri" pitchFamily="34" charset="0"/>
                <a:ea typeface="Calibri" pitchFamily="34" charset="-122"/>
                <a:cs typeface="Calibri" pitchFamily="34" charset="-120"/>
              </a:rPr>
              <a:t>Recognition &amp; SPOC awards</a:t>
            </a:r>
            <a:endParaRPr lang="en-US" sz="1150" dirty="0"/>
          </a:p>
        </p:txBody>
      </p:sp>
      <p:sp>
        <p:nvSpPr>
          <p:cNvPr id="47" name="Shape 45"/>
          <p:cNvSpPr/>
          <p:nvPr/>
        </p:nvSpPr>
        <p:spPr>
          <a:xfrm>
            <a:off x="7104888" y="4187952"/>
            <a:ext cx="530352" cy="201168"/>
          </a:xfrm>
          <a:prstGeom prst="roundRect">
            <a:avLst>
              <a:gd name="adj" fmla="val 45455"/>
            </a:avLst>
          </a:prstGeom>
          <a:solidFill>
            <a:srgbClr val="E6EAF5"/>
          </a:solidFill>
          <a:ln w="12700">
            <a:solidFill>
              <a:srgbClr val="E6EAF5"/>
            </a:solidFill>
            <a:prstDash val="solid"/>
          </a:ln>
        </p:spPr>
      </p:sp>
      <p:sp>
        <p:nvSpPr>
          <p:cNvPr id="48" name="Text 46"/>
          <p:cNvSpPr txBox="1"/>
          <p:nvPr/>
        </p:nvSpPr>
        <p:spPr>
          <a:xfrm>
            <a:off x="7104888" y="4178808"/>
            <a:ext cx="530352" cy="210312"/>
          </a:xfrm>
          <a:prstGeom prst="rect">
            <a:avLst/>
          </a:prstGeom>
          <a:noFill/>
          <a:ln/>
        </p:spPr>
        <p:txBody>
          <a:bodyPr wrap="square" lIns="0" tIns="0" rIns="0" bIns="0" rtlCol="0" anchor="ctr"/>
          <a:lstStyle/>
          <a:p>
            <a:pPr algn="ctr" indent="0" marL="0">
              <a:buNone/>
            </a:pPr>
            <a:r>
              <a:rPr lang="en-US" sz="750" b="1" spc="60" kern="0" dirty="0">
                <a:solidFill>
                  <a:srgbClr val="7A86A8"/>
                </a:solidFill>
                <a:latin typeface="Arial" pitchFamily="34" charset="0"/>
                <a:ea typeface="Arial" pitchFamily="34" charset="-122"/>
                <a:cs typeface="Arial" pitchFamily="34" charset="-120"/>
              </a:rPr>
              <a:t>KEPT</a:t>
            </a:r>
            <a:endParaRPr lang="en-US" sz="750" dirty="0"/>
          </a:p>
        </p:txBody>
      </p:sp>
      <p:sp>
        <p:nvSpPr>
          <p:cNvPr id="49" name="Shape 47"/>
          <p:cNvSpPr/>
          <p:nvPr/>
        </p:nvSpPr>
        <p:spPr>
          <a:xfrm>
            <a:off x="8065008" y="1389888"/>
            <a:ext cx="3566160" cy="3611880"/>
          </a:xfrm>
          <a:prstGeom prst="roundRect">
            <a:avLst>
              <a:gd name="adj" fmla="val 1282"/>
            </a:avLst>
          </a:prstGeom>
          <a:solidFill>
            <a:srgbClr val="F4F7FF"/>
          </a:solidFill>
          <a:ln w="12700">
            <a:solidFill>
              <a:srgbClr val="DDE8FF"/>
            </a:solidFill>
            <a:prstDash val="solid"/>
          </a:ln>
          <a:effectLst>
            <a:outerShdw sx="100000" sy="100000" kx="0" ky="0" algn="bl" rotWithShape="0" blurRad="203200" dist="38100" dir="5400000">
              <a:srgbClr val="101540">
                <a:alpha val="12000"/>
              </a:srgbClr>
            </a:outerShdw>
          </a:effectLst>
        </p:spPr>
      </p:sp>
      <p:sp>
        <p:nvSpPr>
          <p:cNvPr id="50" name="Shape 48"/>
          <p:cNvSpPr/>
          <p:nvPr/>
        </p:nvSpPr>
        <p:spPr>
          <a:xfrm>
            <a:off x="8321040" y="1627632"/>
            <a:ext cx="274320" cy="274320"/>
          </a:xfrm>
          <a:prstGeom prst="roundRect">
            <a:avLst>
              <a:gd name="adj" fmla="val 23333"/>
            </a:avLst>
          </a:prstGeom>
          <a:solidFill>
            <a:srgbClr val="C27803"/>
          </a:solidFill>
          <a:ln w="12700">
            <a:solidFill>
              <a:srgbClr val="C27803"/>
            </a:solidFill>
            <a:prstDash val="solid"/>
          </a:ln>
        </p:spPr>
      </p:sp>
      <p:sp>
        <p:nvSpPr>
          <p:cNvPr id="51" name="Text 49"/>
          <p:cNvSpPr txBox="1"/>
          <p:nvPr/>
        </p:nvSpPr>
        <p:spPr>
          <a:xfrm>
            <a:off x="8705088" y="1609344"/>
            <a:ext cx="2743200" cy="310896"/>
          </a:xfrm>
          <a:prstGeom prst="rect">
            <a:avLst/>
          </a:prstGeom>
          <a:noFill/>
          <a:ln/>
        </p:spPr>
        <p:txBody>
          <a:bodyPr wrap="square" lIns="0" tIns="0" rIns="0" bIns="0" rtlCol="0" anchor="ctr"/>
          <a:lstStyle/>
          <a:p>
            <a:pPr indent="0" marL="0">
              <a:buNone/>
            </a:pPr>
            <a:r>
              <a:rPr lang="en-US" sz="1500" b="1" dirty="0">
                <a:solidFill>
                  <a:srgbClr val="101540"/>
                </a:solidFill>
                <a:latin typeface="Arial" pitchFamily="34" charset="0"/>
                <a:ea typeface="Arial" pitchFamily="34" charset="-122"/>
                <a:cs typeface="Arial" pitchFamily="34" charset="-120"/>
              </a:rPr>
              <a:t>Gamification layer</a:t>
            </a:r>
            <a:endParaRPr lang="en-US" sz="1500" dirty="0"/>
          </a:p>
        </p:txBody>
      </p:sp>
      <p:sp>
        <p:nvSpPr>
          <p:cNvPr id="52" name="Text 50"/>
          <p:cNvSpPr txBox="1"/>
          <p:nvPr/>
        </p:nvSpPr>
        <p:spPr>
          <a:xfrm>
            <a:off x="8321040" y="2048256"/>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Question of the week</a:t>
            </a:r>
            <a:endParaRPr lang="en-US" sz="1150" dirty="0"/>
          </a:p>
        </p:txBody>
      </p:sp>
      <p:sp>
        <p:nvSpPr>
          <p:cNvPr id="53" name="Shape 51"/>
          <p:cNvSpPr/>
          <p:nvPr/>
        </p:nvSpPr>
        <p:spPr>
          <a:xfrm>
            <a:off x="10863072" y="2084832"/>
            <a:ext cx="530352" cy="201168"/>
          </a:xfrm>
          <a:prstGeom prst="roundRect">
            <a:avLst>
              <a:gd name="adj" fmla="val 45455"/>
            </a:avLst>
          </a:prstGeom>
          <a:solidFill>
            <a:srgbClr val="000050"/>
          </a:solidFill>
          <a:ln w="12700">
            <a:solidFill>
              <a:srgbClr val="000050"/>
            </a:solidFill>
            <a:prstDash val="solid"/>
          </a:ln>
        </p:spPr>
      </p:sp>
      <p:sp>
        <p:nvSpPr>
          <p:cNvPr id="54" name="Text 52"/>
          <p:cNvSpPr txBox="1"/>
          <p:nvPr/>
        </p:nvSpPr>
        <p:spPr>
          <a:xfrm>
            <a:off x="10863072" y="2075688"/>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55" name="Text 53"/>
          <p:cNvSpPr txBox="1"/>
          <p:nvPr/>
        </p:nvSpPr>
        <p:spPr>
          <a:xfrm>
            <a:off x="8321040" y="2468880"/>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Points, streaks &amp; weekly leaderboard</a:t>
            </a:r>
            <a:endParaRPr lang="en-US" sz="1150" dirty="0"/>
          </a:p>
        </p:txBody>
      </p:sp>
      <p:sp>
        <p:nvSpPr>
          <p:cNvPr id="56" name="Shape 54"/>
          <p:cNvSpPr/>
          <p:nvPr/>
        </p:nvSpPr>
        <p:spPr>
          <a:xfrm>
            <a:off x="10863072" y="2505456"/>
            <a:ext cx="530352" cy="201168"/>
          </a:xfrm>
          <a:prstGeom prst="roundRect">
            <a:avLst>
              <a:gd name="adj" fmla="val 45455"/>
            </a:avLst>
          </a:prstGeom>
          <a:solidFill>
            <a:srgbClr val="000050"/>
          </a:solidFill>
          <a:ln w="12700">
            <a:solidFill>
              <a:srgbClr val="000050"/>
            </a:solidFill>
            <a:prstDash val="solid"/>
          </a:ln>
        </p:spPr>
      </p:sp>
      <p:sp>
        <p:nvSpPr>
          <p:cNvPr id="57" name="Text 55"/>
          <p:cNvSpPr txBox="1"/>
          <p:nvPr/>
        </p:nvSpPr>
        <p:spPr>
          <a:xfrm>
            <a:off x="10863072" y="2496312"/>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58" name="Text 56"/>
          <p:cNvSpPr txBox="1"/>
          <p:nvPr/>
        </p:nvSpPr>
        <p:spPr>
          <a:xfrm>
            <a:off x="8321040" y="2889504"/>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CPE badges at 10 / 25 / 40 hours</a:t>
            </a:r>
            <a:endParaRPr lang="en-US" sz="1150" dirty="0"/>
          </a:p>
        </p:txBody>
      </p:sp>
      <p:sp>
        <p:nvSpPr>
          <p:cNvPr id="59" name="Shape 57"/>
          <p:cNvSpPr/>
          <p:nvPr/>
        </p:nvSpPr>
        <p:spPr>
          <a:xfrm>
            <a:off x="10863072" y="2926080"/>
            <a:ext cx="530352" cy="201168"/>
          </a:xfrm>
          <a:prstGeom prst="roundRect">
            <a:avLst>
              <a:gd name="adj" fmla="val 45455"/>
            </a:avLst>
          </a:prstGeom>
          <a:solidFill>
            <a:srgbClr val="000050"/>
          </a:solidFill>
          <a:ln w="12700">
            <a:solidFill>
              <a:srgbClr val="000050"/>
            </a:solidFill>
            <a:prstDash val="solid"/>
          </a:ln>
        </p:spPr>
      </p:sp>
      <p:sp>
        <p:nvSpPr>
          <p:cNvPr id="60" name="Text 58"/>
          <p:cNvSpPr txBox="1"/>
          <p:nvPr/>
        </p:nvSpPr>
        <p:spPr>
          <a:xfrm>
            <a:off x="10863072" y="2916936"/>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61" name="Text 59"/>
          <p:cNvSpPr txBox="1"/>
          <p:nvPr/>
        </p:nvSpPr>
        <p:spPr>
          <a:xfrm>
            <a:off x="8321040" y="3310128"/>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Mentor badge for hours given</a:t>
            </a:r>
            <a:endParaRPr lang="en-US" sz="1150" dirty="0"/>
          </a:p>
        </p:txBody>
      </p:sp>
      <p:sp>
        <p:nvSpPr>
          <p:cNvPr id="62" name="Shape 60"/>
          <p:cNvSpPr/>
          <p:nvPr/>
        </p:nvSpPr>
        <p:spPr>
          <a:xfrm>
            <a:off x="10863072" y="3346704"/>
            <a:ext cx="530352" cy="201168"/>
          </a:xfrm>
          <a:prstGeom prst="roundRect">
            <a:avLst>
              <a:gd name="adj" fmla="val 45455"/>
            </a:avLst>
          </a:prstGeom>
          <a:solidFill>
            <a:srgbClr val="000050"/>
          </a:solidFill>
          <a:ln w="12700">
            <a:solidFill>
              <a:srgbClr val="000050"/>
            </a:solidFill>
            <a:prstDash val="solid"/>
          </a:ln>
        </p:spPr>
      </p:sp>
      <p:sp>
        <p:nvSpPr>
          <p:cNvPr id="63" name="Text 61"/>
          <p:cNvSpPr txBox="1"/>
          <p:nvPr/>
        </p:nvSpPr>
        <p:spPr>
          <a:xfrm>
            <a:off x="10863072" y="3337560"/>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64" name="Text 62"/>
          <p:cNvSpPr txBox="1"/>
          <p:nvPr/>
        </p:nvSpPr>
        <p:spPr>
          <a:xfrm>
            <a:off x="8321040" y="3730752"/>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IdeIA points for ideas shortlisted</a:t>
            </a:r>
            <a:endParaRPr lang="en-US" sz="1150" dirty="0"/>
          </a:p>
        </p:txBody>
      </p:sp>
      <p:sp>
        <p:nvSpPr>
          <p:cNvPr id="65" name="Shape 63"/>
          <p:cNvSpPr/>
          <p:nvPr/>
        </p:nvSpPr>
        <p:spPr>
          <a:xfrm>
            <a:off x="10863072" y="3767328"/>
            <a:ext cx="530352" cy="201168"/>
          </a:xfrm>
          <a:prstGeom prst="roundRect">
            <a:avLst>
              <a:gd name="adj" fmla="val 45455"/>
            </a:avLst>
          </a:prstGeom>
          <a:solidFill>
            <a:srgbClr val="000050"/>
          </a:solidFill>
          <a:ln w="12700">
            <a:solidFill>
              <a:srgbClr val="000050"/>
            </a:solidFill>
            <a:prstDash val="solid"/>
          </a:ln>
        </p:spPr>
      </p:sp>
      <p:sp>
        <p:nvSpPr>
          <p:cNvPr id="66" name="Text 64"/>
          <p:cNvSpPr txBox="1"/>
          <p:nvPr/>
        </p:nvSpPr>
        <p:spPr>
          <a:xfrm>
            <a:off x="10863072" y="3758184"/>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67" name="Text 65"/>
          <p:cNvSpPr txBox="1"/>
          <p:nvPr/>
        </p:nvSpPr>
        <p:spPr>
          <a:xfrm>
            <a:off x="8321040" y="4151376"/>
            <a:ext cx="2487168" cy="384048"/>
          </a:xfrm>
          <a:prstGeom prst="rect">
            <a:avLst/>
          </a:prstGeom>
          <a:noFill/>
          <a:ln/>
        </p:spPr>
        <p:txBody>
          <a:bodyPr wrap="square" lIns="0" tIns="0" rIns="0" bIns="0" rtlCol="0" anchor="ctr"/>
          <a:lstStyle/>
          <a:p>
            <a:pPr indent="0" marL="0">
              <a:lnSpc>
                <a:spcPts val="1400"/>
              </a:lnSpc>
              <a:buNone/>
            </a:pPr>
            <a:r>
              <a:rPr lang="en-US" sz="1150" b="1" dirty="0">
                <a:solidFill>
                  <a:srgbClr val="101540"/>
                </a:solidFill>
                <a:latin typeface="Calibri" pitchFamily="34" charset="0"/>
                <a:ea typeface="Calibri" pitchFamily="34" charset="-122"/>
                <a:cs typeface="Calibri" pitchFamily="34" charset="-120"/>
              </a:rPr>
              <a:t>First-30-days onboarding progress</a:t>
            </a:r>
            <a:endParaRPr lang="en-US" sz="1150" dirty="0"/>
          </a:p>
        </p:txBody>
      </p:sp>
      <p:sp>
        <p:nvSpPr>
          <p:cNvPr id="68" name="Shape 66"/>
          <p:cNvSpPr/>
          <p:nvPr/>
        </p:nvSpPr>
        <p:spPr>
          <a:xfrm>
            <a:off x="10863072" y="4187952"/>
            <a:ext cx="530352" cy="201168"/>
          </a:xfrm>
          <a:prstGeom prst="roundRect">
            <a:avLst>
              <a:gd name="adj" fmla="val 45455"/>
            </a:avLst>
          </a:prstGeom>
          <a:solidFill>
            <a:srgbClr val="000050"/>
          </a:solidFill>
          <a:ln w="12700">
            <a:solidFill>
              <a:srgbClr val="000050"/>
            </a:solidFill>
            <a:prstDash val="solid"/>
          </a:ln>
        </p:spPr>
      </p:sp>
      <p:sp>
        <p:nvSpPr>
          <p:cNvPr id="69" name="Text 67"/>
          <p:cNvSpPr txBox="1"/>
          <p:nvPr/>
        </p:nvSpPr>
        <p:spPr>
          <a:xfrm>
            <a:off x="10863072" y="4178808"/>
            <a:ext cx="530352" cy="210312"/>
          </a:xfrm>
          <a:prstGeom prst="rect">
            <a:avLst/>
          </a:prstGeom>
          <a:noFill/>
          <a:ln/>
        </p:spPr>
        <p:txBody>
          <a:bodyPr wrap="square" lIns="0" tIns="0" rIns="0" bIns="0" rtlCol="0" anchor="ctr"/>
          <a:lstStyle/>
          <a:p>
            <a:pPr algn="ctr" indent="0" marL="0">
              <a:buNone/>
            </a:pPr>
            <a:r>
              <a:rPr lang="en-US" sz="750" b="1" spc="60" kern="0" dirty="0">
                <a:solidFill>
                  <a:srgbClr val="4BF5FF"/>
                </a:solidFill>
                <a:latin typeface="Arial" pitchFamily="34" charset="0"/>
                <a:ea typeface="Arial" pitchFamily="34" charset="-122"/>
                <a:cs typeface="Arial" pitchFamily="34" charset="-120"/>
              </a:rPr>
              <a:t>NEW</a:t>
            </a:r>
            <a:endParaRPr lang="en-US" sz="750" dirty="0"/>
          </a:p>
        </p:txBody>
      </p:sp>
      <p:sp>
        <p:nvSpPr>
          <p:cNvPr id="70" name="Shape 68"/>
          <p:cNvSpPr/>
          <p:nvPr/>
        </p:nvSpPr>
        <p:spPr>
          <a:xfrm>
            <a:off x="548640" y="5138928"/>
            <a:ext cx="11082528" cy="1298448"/>
          </a:xfrm>
          <a:prstGeom prst="roundRect">
            <a:avLst>
              <a:gd name="adj" fmla="val 3521"/>
            </a:avLst>
          </a:prstGeom>
          <a:solidFill>
            <a:srgbClr val="000050"/>
          </a:solidFill>
          <a:ln w="12700">
            <a:solidFill>
              <a:srgbClr val="000050"/>
            </a:solidFill>
            <a:prstDash val="solid"/>
          </a:ln>
        </p:spPr>
      </p:sp>
      <p:pic>
        <p:nvPicPr>
          <p:cNvPr id="71" name="Image 0" descr="qow.png">    </p:cNvPr>
          <p:cNvPicPr>
            <a:picLocks noChangeAspect="1"/>
          </p:cNvPicPr>
          <p:nvPr/>
        </p:nvPicPr>
        <p:blipFill>
          <a:blip r:embed="rId1"/>
          <a:stretch>
            <a:fillRect/>
          </a:stretch>
        </p:blipFill>
        <p:spPr>
          <a:xfrm>
            <a:off x="749808" y="5266944"/>
            <a:ext cx="1572768" cy="1051560"/>
          </a:xfrm>
          <a:prstGeom prst="rect">
            <a:avLst/>
          </a:prstGeom>
        </p:spPr>
      </p:pic>
      <p:sp>
        <p:nvSpPr>
          <p:cNvPr id="72" name="Text 69"/>
          <p:cNvSpPr txBox="1"/>
          <p:nvPr/>
        </p:nvSpPr>
        <p:spPr>
          <a:xfrm>
            <a:off x="2560320" y="5321808"/>
            <a:ext cx="8869680" cy="292608"/>
          </a:xfrm>
          <a:prstGeom prst="rect">
            <a:avLst/>
          </a:prstGeom>
          <a:noFill/>
          <a:ln/>
        </p:spPr>
        <p:txBody>
          <a:bodyPr wrap="square" lIns="0" tIns="0" rIns="0" bIns="0" rtlCol="0" anchor="ctr"/>
          <a:lstStyle/>
          <a:p>
            <a:pPr indent="0" marL="0">
              <a:buNone/>
            </a:pPr>
            <a:r>
              <a:rPr lang="en-US" sz="1500" b="1" dirty="0">
                <a:solidFill>
                  <a:srgbClr val="4BF5FF"/>
                </a:solidFill>
                <a:latin typeface="Arial" pitchFamily="34" charset="0"/>
                <a:ea typeface="Arial" pitchFamily="34" charset="-122"/>
                <a:cs typeface="Arial" pitchFamily="34" charset="-120"/>
              </a:rPr>
              <a:t>Gamify participation, never audit outcomes.</a:t>
            </a:r>
            <a:endParaRPr lang="en-US" sz="1500" dirty="0"/>
          </a:p>
        </p:txBody>
      </p:sp>
      <p:sp>
        <p:nvSpPr>
          <p:cNvPr id="73" name="Text 70"/>
          <p:cNvSpPr txBox="1"/>
          <p:nvPr/>
        </p:nvSpPr>
        <p:spPr>
          <a:xfrm>
            <a:off x="2560320" y="5650992"/>
            <a:ext cx="8869680" cy="658368"/>
          </a:xfrm>
          <a:prstGeom prst="rect">
            <a:avLst/>
          </a:prstGeom>
          <a:noFill/>
          <a:ln/>
        </p:spPr>
        <p:txBody>
          <a:bodyPr wrap="square" lIns="0" tIns="0" rIns="0" bIns="0" rtlCol="0" anchor="ctr"/>
          <a:lstStyle/>
          <a:p>
            <a:pPr indent="0" marL="0">
              <a:lnSpc>
                <a:spcPts val="1700"/>
              </a:lnSpc>
              <a:buNone/>
            </a:pPr>
            <a:r>
              <a:rPr lang="en-US" sz="1250" dirty="0">
                <a:solidFill>
                  <a:srgbClr val="B9C6EF"/>
                </a:solidFill>
                <a:latin typeface="Calibri" pitchFamily="34" charset="0"/>
                <a:ea typeface="Calibri" pitchFamily="34" charset="-122"/>
                <a:cs typeface="Calibri" pitchFamily="34" charset="-120"/>
              </a:rPr>
              <a:t>Points go to answering the weekly question, logging CPE, mentoring and submitting ideas. Nothing is scored on findings raised or issues closed — scoring those would distort the judgement the department exists to exercise.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2026-09-16T20:04:34Z</dcterms:created>
  <dcterms:modified xsi:type="dcterms:W3CDTF">2026-09-16T20:04:34Z</dcterms:modified>
</cp:coreProperties>
</file>